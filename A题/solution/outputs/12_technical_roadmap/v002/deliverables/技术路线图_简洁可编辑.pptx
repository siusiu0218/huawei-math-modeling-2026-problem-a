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32a743fab84d0a" /><Relationship Type="http://schemas.openxmlformats.org/officeDocument/2006/relationships/extended-properties" Target="/docProps/app.xml" Id="R678915ad5a0f46a8" /><Relationship Type="http://schemas.openxmlformats.org/officeDocument/2006/relationships/officeDocument" Target="/ppt/presentation.xml" Id="R8647c13c838f4d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948fb91671499a"/>
  </p:sldMasterIdLst>
  <p:notesMasterIdLst>
    <p:notesMasterId xmlns:r="http://schemas.openxmlformats.org/officeDocument/2006/relationships" r:id="R5fca26d199de4d53"/>
  </p:notesMasterIdLst>
  <p:sldIdLst>
    <p:sldId xmlns:r="http://schemas.openxmlformats.org/officeDocument/2006/relationships" id="256" r:id="Rfc2c42759b754c79"/>
  </p:sldIdLst>
  <p:sldSz cx="11430000" cy="12668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87eb4d578f4028" /><Relationship Type="http://schemas.openxmlformats.org/officeDocument/2006/relationships/slideMaster" Target="/ppt/slideMasters/slideMaster1.xml" Id="Rae948fb91671499a" /><Relationship Type="http://schemas.openxmlformats.org/officeDocument/2006/relationships/notesMaster" Target="/ppt/notesMasters/notesMaster1.xml" Id="R5fca26d199de4d53" /><Relationship Type="http://schemas.openxmlformats.org/officeDocument/2006/relationships/presProps" Target="/ppt/presProps.xml" Id="R6c49d337d85d4c82" /><Relationship Type="http://schemas.openxmlformats.org/officeDocument/2006/relationships/tableStyles" Target="/ppt/tableStyles.xml" Id="Rb658acd0137443af" /><Relationship Type="http://schemas.openxmlformats.org/officeDocument/2006/relationships/slide" Target="/ppt/slides/slide1.xml" Id="Rfc2c42759b754c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9b4d6c090447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c91871874645ff" /><Relationship Type="http://schemas.openxmlformats.org/officeDocument/2006/relationships/notesMaster" Target="/ppt/notesMasters/notesMaster1.xml" Id="R39b9ef28b58b4b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内容依据（2026-09-26）：第一问 src/portfolio_scheduler.py、baseline.py、region_scheduler.py，正式方案v009；第二问 src/scene_b_active_cores.py、scene_b_paired_order.py、scene_b_adaptive.py，正式方案v011；第三问 src/scene_b_window_components.py及outputs/10_problem3/v004_full_20260926/REPORT.md，正式方案v004。第三问窗口法改编来源及MIT许可见scene_b_window_components.LICENSE，不宣称该方法原创。第一问局部试验未纳入正式主线。各问结果分别验证，不混合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1f1aec6f194e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f856d50a5748cd" /><Relationship Type="http://schemas.openxmlformats.org/officeDocument/2006/relationships/slideLayout" Target="/ppt/slideLayouts/slideLayout1.xml" Id="R2423b401114345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23b401114345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8cdba421e40a1" /><Relationship Type="http://schemas.openxmlformats.org/officeDocument/2006/relationships/notesSlide" Target="/ppt/notesSlides/notesSlide1.xml" Id="R41cddf10a5754c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text-1">
            <a:extLst xmlns:a="http://schemas.openxmlformats.org/drawingml/2006/main">
              <a:ext uri="{FF2B5EF4-FFF2-40B4-BE49-F238E27FC236}">
                <a16:creationId xmlns:a16="http://schemas.microsoft.com/office/drawing/2014/main" id="{D0F9CD1B-B005-4D15-8F34-09AF6A98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812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NPU计算图划分与多核调度技术路线</a:t>
            </a:r>
          </a:p>
        </p:txBody>
      </p:sp>
      <p:sp>
        <p:nvSpPr>
          <p:cNvPr id="2" name="box-2">
            <a:extLst xmlns:a="http://schemas.openxmlformats.org/drawingml/2006/main">
              <a:ext uri="{FF2B5EF4-FFF2-40B4-BE49-F238E27FC236}">
                <a16:creationId xmlns:a16="http://schemas.microsoft.com/office/drawing/2014/main" id="{BC06851F-52C9-4F6C-9743-E75DAB9D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95375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12383">
            <a:solidFill>
              <a:srgbClr val="B9C5D0"/>
            </a:solidFill>
          </a:ln>
        </p:spPr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B164C0DF-D2A6-4189-890D-A2637CBF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23950"/>
            <a:ext cx="2724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计算图数据</a:t>
            </a:r>
          </a:p>
        </p:txBody>
      </p:sp>
      <p:sp>
        <p:nvSpPr>
          <p:cNvPr id="4" name="box-4">
            <a:extLst xmlns:a="http://schemas.openxmlformats.org/drawingml/2006/main">
              <a:ext uri="{FF2B5EF4-FFF2-40B4-BE49-F238E27FC236}">
                <a16:creationId xmlns:a16="http://schemas.microsoft.com/office/drawing/2014/main" id="{36EC3354-0D00-4F7A-A42C-D24E7E1C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095375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12383">
            <a:solidFill>
              <a:srgbClr val="B9C5D0"/>
            </a:solidFill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5852A26E-484B-4EE3-8874-DAD2F547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123950"/>
            <a:ext cx="2724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硬件参数</a:t>
            </a:r>
          </a:p>
        </p:txBody>
      </p:sp>
      <p:sp>
        <p:nvSpPr>
          <p:cNvPr id="6" name="box-6">
            <a:extLst xmlns:a="http://schemas.openxmlformats.org/drawingml/2006/main">
              <a:ext uri="{FF2B5EF4-FFF2-40B4-BE49-F238E27FC236}">
                <a16:creationId xmlns:a16="http://schemas.microsoft.com/office/drawing/2014/main" id="{7D58BA35-0A28-46B4-B4B4-5220F992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095375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12383">
            <a:solidFill>
              <a:srgbClr val="B9C5D0"/>
            </a:solidFill>
          </a:ln>
        </p:spPr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BC9C61F9-2F16-4046-9C6F-C6F17ED7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23950"/>
            <a:ext cx="2724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场景约束</a:t>
            </a:r>
          </a:p>
        </p:txBody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56D56A8E-7461-42CB-A09A-9C29C2D4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762125"/>
            <a:ext cx="3571875" cy="238125"/>
          </a:xfrm>
          <a:custGeom xmlns:a="http://schemas.openxmlformats.org/drawingml/2006/main">
            <a:pathLst>
              <a:path w="3571875" h="238125">
                <a:moveTo>
                  <a:pt x="0" y="0"/>
                </a:moveTo>
                <a:lnTo>
                  <a:pt x="0" y="238125"/>
                </a:lnTo>
                <a:lnTo>
                  <a:pt x="3571875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96779"/>
            </a:solidFill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E0833258-D486-4CE1-89F5-3F43A598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62125"/>
            <a:ext cx="3571875" cy="238125"/>
          </a:xfrm>
          <a:custGeom xmlns:a="http://schemas.openxmlformats.org/drawingml/2006/main">
            <a:pathLst>
              <a:path w="3571875" h="238125">
                <a:moveTo>
                  <a:pt x="3571875" y="0"/>
                </a:moveTo>
                <a:lnTo>
                  <a:pt x="3571875" y="238125"/>
                </a:ln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96779"/>
            </a:solidFill>
          </a:ln>
        </p:spPr>
      </p:sp>
      <p:sp>
        <p:nvSpPr>
          <p:cNvPr id="10" name="path-10">
            <a:extLst xmlns:a="http://schemas.openxmlformats.org/drawingml/2006/main">
              <a:ext uri="{FF2B5EF4-FFF2-40B4-BE49-F238E27FC236}">
                <a16:creationId xmlns:a16="http://schemas.microsoft.com/office/drawing/2014/main" id="{48F4FE0B-DD20-4CB8-8E0F-AEEC3D6D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62125"/>
            <a:ext cx="9525" cy="476250"/>
          </a:xfrm>
          <a:custGeom xmlns:a="http://schemas.openxmlformats.org/drawingml/2006/main"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596779"/>
            </a:solidFill>
          </a:ln>
        </p:spPr>
      </p:sp>
      <p:sp>
        <p:nvSpPr>
          <p:cNvPr id="11" name="path-11">
            <a:extLst xmlns:a="http://schemas.openxmlformats.org/drawingml/2006/main">
              <a:ext uri="{FF2B5EF4-FFF2-40B4-BE49-F238E27FC236}">
                <a16:creationId xmlns:a16="http://schemas.microsoft.com/office/drawing/2014/main" id="{1224E672-A477-4D58-981A-AAA972DD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52650"/>
            <a:ext cx="76200" cy="85725"/>
          </a:xfrm>
          <a:custGeom xmlns:a="http://schemas.openxmlformats.org/drawingml/2006/main">
            <a:pathLst>
              <a:path w="76200" h="85725">
                <a:moveTo>
                  <a:pt x="38100" y="85725"/>
                </a:moveTo>
                <a:lnTo>
                  <a:pt x="76200" y="0"/>
                </a:lnTo>
                <a:lnTo>
                  <a:pt x="0" y="0"/>
                </a:lnTo>
                <a:lnTo>
                  <a:pt x="38100" y="85725"/>
                </a:lnTo>
              </a:path>
            </a:pathLst>
          </a:custGeom>
          <a:solidFill xmlns:a="http://schemas.openxmlformats.org/drawingml/2006/main">
            <a:srgbClr val="596779"/>
          </a:solidFill>
          <a:ln xmlns:a="http://schemas.openxmlformats.org/drawingml/2006/main" w="0">
            <a:solidFill>
              <a:srgbClr val="596779"/>
            </a:solidFill>
          </a:ln>
        </p:spPr>
      </p:sp>
      <p:sp>
        <p:nvSpPr>
          <p:cNvPr id="12" name="box-12">
            <a:extLst xmlns:a="http://schemas.openxmlformats.org/drawingml/2006/main">
              <a:ext uri="{FF2B5EF4-FFF2-40B4-BE49-F238E27FC236}">
                <a16:creationId xmlns:a16="http://schemas.microsoft.com/office/drawing/2014/main" id="{5D1E5F13-C6F7-427A-B7E3-6749FCE8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38375"/>
            <a:ext cx="666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5"/>
          </a:solidFill>
          <a:ln xmlns:a="http://schemas.openxmlformats.org/drawingml/2006/main" w="12383">
            <a:solidFill>
              <a:srgbClr val="263E55"/>
            </a:solidFill>
          </a:ln>
        </p:spPr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159BACF0-D356-4173-9DAD-202B7E91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266950"/>
            <a:ext cx="653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子图划分     核间分配     执行排序</a:t>
            </a:r>
          </a:p>
        </p:txBody>
      </p:sp>
      <p:sp>
        <p:nvSpPr>
          <p:cNvPr id="14" name="path-14">
            <a:extLst xmlns:a="http://schemas.openxmlformats.org/drawingml/2006/main">
              <a:ext uri="{FF2B5EF4-FFF2-40B4-BE49-F238E27FC236}">
                <a16:creationId xmlns:a16="http://schemas.microsoft.com/office/drawing/2014/main" id="{E4D5D911-4CBA-4671-AD78-780259D4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09875"/>
            <a:ext cx="9525" cy="381000"/>
          </a:xfrm>
          <a:custGeom xmlns:a="http://schemas.openxmlformats.org/drawingml/2006/main"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596779"/>
            </a:solidFill>
          </a:ln>
        </p:spPr>
      </p:sp>
      <p:sp>
        <p:nvSpPr>
          <p:cNvPr id="15" name="path-15">
            <a:extLst xmlns:a="http://schemas.openxmlformats.org/drawingml/2006/main">
              <a:ext uri="{FF2B5EF4-FFF2-40B4-BE49-F238E27FC236}">
                <a16:creationId xmlns:a16="http://schemas.microsoft.com/office/drawing/2014/main" id="{33B14057-D93E-4653-9027-C9A32193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105150"/>
            <a:ext cx="76200" cy="85725"/>
          </a:xfrm>
          <a:custGeom xmlns:a="http://schemas.openxmlformats.org/drawingml/2006/main">
            <a:pathLst>
              <a:path w="76200" h="85725">
                <a:moveTo>
                  <a:pt x="38100" y="85725"/>
                </a:moveTo>
                <a:lnTo>
                  <a:pt x="76200" y="0"/>
                </a:lnTo>
                <a:lnTo>
                  <a:pt x="0" y="0"/>
                </a:lnTo>
                <a:lnTo>
                  <a:pt x="38100" y="85725"/>
                </a:lnTo>
              </a:path>
            </a:pathLst>
          </a:custGeom>
          <a:solidFill xmlns:a="http://schemas.openxmlformats.org/drawingml/2006/main">
            <a:srgbClr val="596779"/>
          </a:solidFill>
          <a:ln xmlns:a="http://schemas.openxmlformats.org/drawingml/2006/main" w="0">
            <a:solidFill>
              <a:srgbClr val="596779"/>
            </a:solidFill>
          </a:ln>
        </p:spPr>
      </p:sp>
      <p:sp>
        <p:nvSpPr>
          <p:cNvPr id="16" name="box-16">
            <a:extLst xmlns:a="http://schemas.openxmlformats.org/drawingml/2006/main">
              <a:ext uri="{FF2B5EF4-FFF2-40B4-BE49-F238E27FC236}">
                <a16:creationId xmlns:a16="http://schemas.microsoft.com/office/drawing/2014/main" id="{4D6B648C-7099-4FBC-8F26-66E00DE0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90875"/>
            <a:ext cx="10477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5648F"/>
            </a:solidFill>
          </a:ln>
        </p:spPr>
      </p:sp>
      <p:sp>
        <p:nvSpPr>
          <p:cNvPr id="17" name="box-17">
            <a:extLst xmlns:a="http://schemas.openxmlformats.org/drawingml/2006/main">
              <a:ext uri="{FF2B5EF4-FFF2-40B4-BE49-F238E27FC236}">
                <a16:creationId xmlns:a16="http://schemas.microsoft.com/office/drawing/2014/main" id="{ABA225F9-7BF3-44D8-B7E1-2766E047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90875"/>
            <a:ext cx="1047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A"/>
          </a:solidFill>
          <a:ln xmlns:a="http://schemas.openxmlformats.org/drawingml/2006/main" w="0">
            <a:noFill/>
          </a:ln>
        </p:spPr>
      </p:sp>
      <p:sp>
        <p:nvSpPr>
          <p:cNvPr id="18" name="text-18">
            <a:extLst xmlns:a="http://schemas.openxmlformats.org/drawingml/2006/main">
              <a:ext uri="{FF2B5EF4-FFF2-40B4-BE49-F238E27FC236}">
                <a16:creationId xmlns:a16="http://schemas.microsoft.com/office/drawing/2014/main" id="{26ACECCA-A19A-43C0-983E-CCDED84B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385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564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5648F"/>
                </a:solidFill>
                <a:latin typeface="Microsoft YaHei"/>
                <a:ea typeface="Microsoft YaHei"/>
                <a:cs typeface="Microsoft YaHei"/>
              </a:rPr>
              <a:t>问题一   DDR搬运场景</a:t>
            </a:r>
          </a:p>
        </p:txBody>
      </p:sp>
      <p:sp>
        <p:nvSpPr>
          <p:cNvPr id="19" name="box-19">
            <a:extLst xmlns:a="http://schemas.openxmlformats.org/drawingml/2006/main">
              <a:ext uri="{FF2B5EF4-FFF2-40B4-BE49-F238E27FC236}">
                <a16:creationId xmlns:a16="http://schemas.microsoft.com/office/drawing/2014/main" id="{6A3FF42F-ABAF-4242-9DEB-463C09D7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81450"/>
            <a:ext cx="18573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A"/>
          </a:solidFill>
          <a:ln xmlns:a="http://schemas.openxmlformats.org/drawingml/2006/main" w="12383">
            <a:solidFill>
              <a:srgbClr val="35648F"/>
            </a:solidFill>
          </a:ln>
        </p:spPr>
      </p:sp>
      <p:sp>
        <p:nvSpPr>
          <p:cNvPr id="20" name="text-20">
            <a:extLst xmlns:a="http://schemas.openxmlformats.org/drawingml/2006/main">
              <a:ext uri="{FF2B5EF4-FFF2-40B4-BE49-F238E27FC236}">
                <a16:creationId xmlns:a16="http://schemas.microsoft.com/office/drawing/2014/main" id="{DD4E8386-BB45-4B56-84FA-8003ED94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0025"/>
            <a:ext cx="17240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图结构分析</a:t>
            </a:r>
          </a:p>
        </p:txBody>
      </p:sp>
      <p:sp>
        <p:nvSpPr>
          <p:cNvPr id="21" name="box-21">
            <a:extLst xmlns:a="http://schemas.openxmlformats.org/drawingml/2006/main">
              <a:ext uri="{FF2B5EF4-FFF2-40B4-BE49-F238E27FC236}">
                <a16:creationId xmlns:a16="http://schemas.microsoft.com/office/drawing/2014/main" id="{60126DB3-ED9D-4902-B2A1-9A47D8A6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81425"/>
            <a:ext cx="3667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5648F"/>
            </a:solidFill>
          </a:ln>
        </p:spPr>
      </p:sp>
      <p:sp>
        <p:nvSpPr>
          <p:cNvPr id="22" name="text-22">
            <a:extLst xmlns:a="http://schemas.openxmlformats.org/drawingml/2006/main">
              <a:ext uri="{FF2B5EF4-FFF2-40B4-BE49-F238E27FC236}">
                <a16:creationId xmlns:a16="http://schemas.microsoft.com/office/drawing/2014/main" id="{EB6CB641-D997-42D4-A646-B932C5FA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810000"/>
            <a:ext cx="3533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拓扑分块 + 最早完成分核</a:t>
            </a:r>
          </a:p>
        </p:txBody>
      </p:sp>
      <p:sp>
        <p:nvSpPr>
          <p:cNvPr id="23" name="box-23">
            <a:extLst xmlns:a="http://schemas.openxmlformats.org/drawingml/2006/main">
              <a:ext uri="{FF2B5EF4-FFF2-40B4-BE49-F238E27FC236}">
                <a16:creationId xmlns:a16="http://schemas.microsoft.com/office/drawing/2014/main" id="{5EE6869D-D2CC-47C8-94D7-BE3DC3C1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76750"/>
            <a:ext cx="3667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5648F"/>
            </a:solidFill>
          </a:ln>
        </p:spPr>
      </p:sp>
      <p:sp>
        <p:nvSpPr>
          <p:cNvPr id="24" name="text-24">
            <a:extLst xmlns:a="http://schemas.openxmlformats.org/drawingml/2006/main">
              <a:ext uri="{FF2B5EF4-FFF2-40B4-BE49-F238E27FC236}">
                <a16:creationId xmlns:a16="http://schemas.microsoft.com/office/drawing/2014/main" id="{3E4A1C1B-17BE-462A-9FD0-3A772A37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505325"/>
            <a:ext cx="3533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链收缩 + 闭合区域合并</a:t>
            </a:r>
          </a:p>
        </p:txBody>
      </p:sp>
      <p:sp>
        <p:nvSpPr>
          <p:cNvPr id="25" name="path-25">
            <a:extLst xmlns:a="http://schemas.openxmlformats.org/drawingml/2006/main">
              <a:ext uri="{FF2B5EF4-FFF2-40B4-BE49-F238E27FC236}">
                <a16:creationId xmlns:a16="http://schemas.microsoft.com/office/drawing/2014/main" id="{59E70AB3-640F-4293-A832-2E5181C8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38600"/>
            <a:ext cx="476250" cy="304800"/>
          </a:xfrm>
          <a:custGeom xmlns:a="http://schemas.openxmlformats.org/drawingml/2006/main">
            <a:pathLst>
              <a:path w="476250" h="304800">
                <a:moveTo>
                  <a:pt x="0" y="304800"/>
                </a:moveTo>
                <a:lnTo>
                  <a:pt x="209550" y="304800"/>
                </a:lnTo>
                <a:lnTo>
                  <a:pt x="209550" y="0"/>
                </a:ln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35648F"/>
            </a:solidFill>
          </a:ln>
        </p:spPr>
      </p:sp>
      <p:sp>
        <p:nvSpPr>
          <p:cNvPr id="26" name="path-26">
            <a:extLst xmlns:a="http://schemas.openxmlformats.org/drawingml/2006/main">
              <a:ext uri="{FF2B5EF4-FFF2-40B4-BE49-F238E27FC236}">
                <a16:creationId xmlns:a16="http://schemas.microsoft.com/office/drawing/2014/main" id="{762F1E88-F1FC-4044-9890-1D88ECD9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000500"/>
            <a:ext cx="85725" cy="76200"/>
          </a:xfrm>
          <a:custGeom xmlns:a="http://schemas.openxmlformats.org/drawingml/2006/main"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lnTo>
                  <a:pt x="85725" y="38100"/>
                </a:lnTo>
              </a:path>
            </a:pathLst>
          </a:custGeom>
          <a:solidFill xmlns:a="http://schemas.openxmlformats.org/drawingml/2006/main">
            <a:srgbClr val="35648F"/>
          </a:solidFill>
          <a:ln xmlns:a="http://schemas.openxmlformats.org/drawingml/2006/main" w="0">
            <a:solidFill>
              <a:srgbClr val="35648F"/>
            </a:solidFill>
          </a:ln>
        </p:spPr>
      </p:sp>
      <p:sp>
        <p:nvSpPr>
          <p:cNvPr id="27" name="path-27">
            <a:extLst xmlns:a="http://schemas.openxmlformats.org/drawingml/2006/main">
              <a:ext uri="{FF2B5EF4-FFF2-40B4-BE49-F238E27FC236}">
                <a16:creationId xmlns:a16="http://schemas.microsoft.com/office/drawing/2014/main" id="{2F8964A5-BB57-4395-8051-B157AE0A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43400"/>
            <a:ext cx="266700" cy="390525"/>
          </a:xfrm>
          <a:custGeom xmlns:a="http://schemas.openxmlformats.org/drawingml/2006/main">
            <a:pathLst>
              <a:path w="266700" h="390525">
                <a:moveTo>
                  <a:pt x="0" y="0"/>
                </a:moveTo>
                <a:lnTo>
                  <a:pt x="0" y="390525"/>
                </a:lnTo>
                <a:lnTo>
                  <a:pt x="266700" y="3905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35648F"/>
            </a:solidFill>
          </a:ln>
        </p:spPr>
      </p:sp>
      <p:sp>
        <p:nvSpPr>
          <p:cNvPr id="28" name="path-28">
            <a:extLst xmlns:a="http://schemas.openxmlformats.org/drawingml/2006/main">
              <a:ext uri="{FF2B5EF4-FFF2-40B4-BE49-F238E27FC236}">
                <a16:creationId xmlns:a16="http://schemas.microsoft.com/office/drawing/2014/main" id="{F0CFB76D-CE98-4B48-9865-702F4AC2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695825"/>
            <a:ext cx="85725" cy="76200"/>
          </a:xfrm>
          <a:custGeom xmlns:a="http://schemas.openxmlformats.org/drawingml/2006/main"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lnTo>
                  <a:pt x="85725" y="38100"/>
                </a:lnTo>
              </a:path>
            </a:pathLst>
          </a:custGeom>
          <a:solidFill xmlns:a="http://schemas.openxmlformats.org/drawingml/2006/main">
            <a:srgbClr val="35648F"/>
          </a:solidFill>
          <a:ln xmlns:a="http://schemas.openxmlformats.org/drawingml/2006/main" w="0">
            <a:solidFill>
              <a:srgbClr val="35648F"/>
            </a:solidFill>
          </a:ln>
        </p:spPr>
      </p:sp>
      <p:sp>
        <p:nvSpPr>
          <p:cNvPr id="29" name="path-29">
            <a:extLst xmlns:a="http://schemas.openxmlformats.org/drawingml/2006/main">
              <a:ext uri="{FF2B5EF4-FFF2-40B4-BE49-F238E27FC236}">
                <a16:creationId xmlns:a16="http://schemas.microsoft.com/office/drawing/2014/main" id="{D8174052-2F4F-42B6-A9C1-60FE77F5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38600"/>
            <a:ext cx="314325" cy="695325"/>
          </a:xfrm>
          <a:custGeom xmlns:a="http://schemas.openxmlformats.org/drawingml/2006/main">
            <a:pathLst>
              <a:path w="314325" h="695325">
                <a:moveTo>
                  <a:pt x="0" y="0"/>
                </a:moveTo>
                <a:lnTo>
                  <a:pt x="314325" y="0"/>
                </a:lnTo>
                <a:lnTo>
                  <a:pt x="314325" y="695325"/>
                </a:lnTo>
                <a:lnTo>
                  <a:pt x="0" y="6953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35648F"/>
            </a:solidFill>
          </a:ln>
        </p:spPr>
      </p:sp>
      <p:sp>
        <p:nvSpPr>
          <p:cNvPr id="30" name="path-30">
            <a:extLst xmlns:a="http://schemas.openxmlformats.org/drawingml/2006/main">
              <a:ext uri="{FF2B5EF4-FFF2-40B4-BE49-F238E27FC236}">
                <a16:creationId xmlns:a16="http://schemas.microsoft.com/office/drawing/2014/main" id="{B0F11C2D-A52F-4D97-84EC-F7FB2A81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43400"/>
            <a:ext cx="447675" cy="9525"/>
          </a:xfrm>
          <a:custGeom xmlns:a="http://schemas.openxmlformats.org/drawingml/2006/main">
            <a:pathLst>
              <a:path w="447675" h="952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35648F"/>
            </a:solidFill>
          </a:ln>
        </p:spPr>
      </p:sp>
      <p:sp>
        <p:nvSpPr>
          <p:cNvPr id="31" name="path-31">
            <a:extLst xmlns:a="http://schemas.openxmlformats.org/drawingml/2006/main">
              <a:ext uri="{FF2B5EF4-FFF2-40B4-BE49-F238E27FC236}">
                <a16:creationId xmlns:a16="http://schemas.microsoft.com/office/drawing/2014/main" id="{2234617B-A83B-4244-BE28-EE2FD096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305300"/>
            <a:ext cx="85725" cy="76200"/>
          </a:xfrm>
          <a:custGeom xmlns:a="http://schemas.openxmlformats.org/drawingml/2006/main"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lnTo>
                  <a:pt x="85725" y="38100"/>
                </a:lnTo>
              </a:path>
            </a:pathLst>
          </a:custGeom>
          <a:solidFill xmlns:a="http://schemas.openxmlformats.org/drawingml/2006/main">
            <a:srgbClr val="35648F"/>
          </a:solidFill>
          <a:ln xmlns:a="http://schemas.openxmlformats.org/drawingml/2006/main" w="0">
            <a:solidFill>
              <a:srgbClr val="35648F"/>
            </a:solidFill>
          </a:ln>
        </p:spPr>
      </p:sp>
      <p:sp>
        <p:nvSpPr>
          <p:cNvPr id="32" name="box-32">
            <a:extLst xmlns:a="http://schemas.openxmlformats.org/drawingml/2006/main">
              <a:ext uri="{FF2B5EF4-FFF2-40B4-BE49-F238E27FC236}">
                <a16:creationId xmlns:a16="http://schemas.microsoft.com/office/drawing/2014/main" id="{CF42421B-B46C-45DB-A702-8E92343F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81450"/>
            <a:ext cx="3238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A"/>
          </a:solidFill>
          <a:ln xmlns:a="http://schemas.openxmlformats.org/drawingml/2006/main" w="12383">
            <a:solidFill>
              <a:srgbClr val="35648F"/>
            </a:solidFill>
          </a:ln>
        </p:spPr>
      </p:sp>
      <p:sp>
        <p:nvSpPr>
          <p:cNvPr id="33" name="text-33">
            <a:extLst xmlns:a="http://schemas.openxmlformats.org/drawingml/2006/main">
              <a:ext uri="{FF2B5EF4-FFF2-40B4-BE49-F238E27FC236}">
                <a16:creationId xmlns:a16="http://schemas.microsoft.com/office/drawing/2014/main" id="{5F554C5D-3050-4A03-8B52-5191D45D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10025"/>
            <a:ext cx="3105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Makespan择优</a:t>
            </a:r>
          </a:p>
        </p:txBody>
      </p:sp>
      <p:sp>
        <p:nvSpPr>
          <p:cNvPr id="34" name="path-34">
            <a:extLst xmlns:a="http://schemas.openxmlformats.org/drawingml/2006/main">
              <a:ext uri="{FF2B5EF4-FFF2-40B4-BE49-F238E27FC236}">
                <a16:creationId xmlns:a16="http://schemas.microsoft.com/office/drawing/2014/main" id="{3C4CE475-3510-4A59-947F-B9551550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43500"/>
            <a:ext cx="9525" cy="476250"/>
          </a:xfrm>
          <a:custGeom xmlns:a="http://schemas.openxmlformats.org/drawingml/2006/main"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35648F"/>
            </a:solidFill>
          </a:ln>
        </p:spPr>
      </p:sp>
      <p:sp>
        <p:nvSpPr>
          <p:cNvPr id="35" name="path-35">
            <a:extLst xmlns:a="http://schemas.openxmlformats.org/drawingml/2006/main">
              <a:ext uri="{FF2B5EF4-FFF2-40B4-BE49-F238E27FC236}">
                <a16:creationId xmlns:a16="http://schemas.microsoft.com/office/drawing/2014/main" id="{B06BA185-8D31-4B5D-8C4A-F08948AE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534025"/>
            <a:ext cx="76200" cy="85725"/>
          </a:xfrm>
          <a:custGeom xmlns:a="http://schemas.openxmlformats.org/drawingml/2006/main">
            <a:pathLst>
              <a:path w="76200" h="85725">
                <a:moveTo>
                  <a:pt x="38100" y="85725"/>
                </a:moveTo>
                <a:lnTo>
                  <a:pt x="76200" y="0"/>
                </a:lnTo>
                <a:lnTo>
                  <a:pt x="0" y="0"/>
                </a:lnTo>
                <a:lnTo>
                  <a:pt x="38100" y="85725"/>
                </a:lnTo>
              </a:path>
            </a:pathLst>
          </a:custGeom>
          <a:solidFill xmlns:a="http://schemas.openxmlformats.org/drawingml/2006/main">
            <a:srgbClr val="35648F"/>
          </a:solidFill>
          <a:ln xmlns:a="http://schemas.openxmlformats.org/drawingml/2006/main" w="0">
            <a:solidFill>
              <a:srgbClr val="35648F"/>
            </a:solidFill>
          </a:ln>
        </p:spPr>
      </p:sp>
      <p:sp>
        <p:nvSpPr>
          <p:cNvPr id="36" name="text-36">
            <a:extLst xmlns:a="http://schemas.openxmlformats.org/drawingml/2006/main">
              <a:ext uri="{FF2B5EF4-FFF2-40B4-BE49-F238E27FC236}">
                <a16:creationId xmlns:a16="http://schemas.microsoft.com/office/drawing/2014/main" id="{2A2C0080-6D09-4FA5-AD2E-5A99AF27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292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779"/>
                </a:solidFill>
                <a:latin typeface="Microsoft YaHei"/>
                <a:ea typeface="Microsoft YaHei"/>
                <a:cs typeface="Microsoft YaHei"/>
              </a:rPr>
              <a:t>方法复用</a:t>
            </a:r>
          </a:p>
        </p:txBody>
      </p:sp>
      <p:sp>
        <p:nvSpPr>
          <p:cNvPr id="37" name="box-37">
            <a:extLst xmlns:a="http://schemas.openxmlformats.org/drawingml/2006/main">
              <a:ext uri="{FF2B5EF4-FFF2-40B4-BE49-F238E27FC236}">
                <a16:creationId xmlns:a16="http://schemas.microsoft.com/office/drawing/2014/main" id="{606E0DB5-CFC5-4FDE-88BC-66A37B7C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19750"/>
            <a:ext cx="104775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87B74"/>
            </a:solidFill>
          </a:ln>
        </p:spPr>
      </p:sp>
      <p:sp>
        <p:nvSpPr>
          <p:cNvPr id="38" name="box-38">
            <a:extLst xmlns:a="http://schemas.openxmlformats.org/drawingml/2006/main">
              <a:ext uri="{FF2B5EF4-FFF2-40B4-BE49-F238E27FC236}">
                <a16:creationId xmlns:a16="http://schemas.microsoft.com/office/drawing/2014/main" id="{03416BBE-DF85-4309-9305-707C0DDA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19750"/>
            <a:ext cx="1047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4"/>
          </a:solidFill>
          <a:ln xmlns:a="http://schemas.openxmlformats.org/drawingml/2006/main" w="0">
            <a:noFill/>
          </a:ln>
        </p:spPr>
      </p:sp>
      <p:sp>
        <p:nvSpPr>
          <p:cNvPr id="39" name="text-39">
            <a:extLst xmlns:a="http://schemas.openxmlformats.org/drawingml/2006/main">
              <a:ext uri="{FF2B5EF4-FFF2-40B4-BE49-F238E27FC236}">
                <a16:creationId xmlns:a16="http://schemas.microsoft.com/office/drawing/2014/main" id="{1CF1679A-A5B6-4340-BC02-7C2FA843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67375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87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87B74"/>
                </a:solidFill>
                <a:latin typeface="Microsoft YaHei"/>
                <a:ea typeface="Microsoft YaHei"/>
                <a:cs typeface="Microsoft YaHei"/>
              </a:rPr>
              <a:t>问题二   同核数据驻留</a:t>
            </a:r>
          </a:p>
        </p:txBody>
      </p:sp>
      <p:sp>
        <p:nvSpPr>
          <p:cNvPr id="40" name="box-40">
            <a:extLst xmlns:a="http://schemas.openxmlformats.org/drawingml/2006/main">
              <a:ext uri="{FF2B5EF4-FFF2-40B4-BE49-F238E27FC236}">
                <a16:creationId xmlns:a16="http://schemas.microsoft.com/office/drawing/2014/main" id="{ED7FBD4F-8C26-4E7C-AEE0-7A5F453F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24600"/>
            <a:ext cx="19526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4"/>
          </a:solidFill>
          <a:ln xmlns:a="http://schemas.openxmlformats.org/drawingml/2006/main" w="12383">
            <a:solidFill>
              <a:srgbClr val="287B74"/>
            </a:solidFill>
          </a:ln>
        </p:spPr>
      </p:sp>
      <p:sp>
        <p:nvSpPr>
          <p:cNvPr id="41" name="text-41">
            <a:extLst xmlns:a="http://schemas.openxmlformats.org/drawingml/2006/main">
              <a:ext uri="{FF2B5EF4-FFF2-40B4-BE49-F238E27FC236}">
                <a16:creationId xmlns:a16="http://schemas.microsoft.com/office/drawing/2014/main" id="{DBBB95F5-93AF-4CBE-A7B4-8C43CE1B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53175"/>
            <a:ext cx="18192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活跃核数</a:t>
            </a:r>
          </a:p>
          <a:p xmlns:a="http://schemas.openxmlformats.org/drawingml/2006/main">
            <a:pPr algn="ctr">
              <a:defRPr sz="187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k = 1, …, N</a:t>
            </a:r>
          </a:p>
        </p:txBody>
      </p:sp>
      <p:sp>
        <p:nvSpPr>
          <p:cNvPr id="42" name="box-42">
            <a:extLst xmlns:a="http://schemas.openxmlformats.org/drawingml/2006/main">
              <a:ext uri="{FF2B5EF4-FFF2-40B4-BE49-F238E27FC236}">
                <a16:creationId xmlns:a16="http://schemas.microsoft.com/office/drawing/2014/main" id="{DB2E47C0-002C-4A06-B08A-D8317A49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6257925"/>
            <a:ext cx="3667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87B74"/>
            </a:solidFill>
          </a:ln>
        </p:spPr>
      </p:sp>
      <p:sp>
        <p:nvSpPr>
          <p:cNvPr id="43" name="text-43">
            <a:extLst xmlns:a="http://schemas.openxmlformats.org/drawingml/2006/main">
              <a:ext uri="{FF2B5EF4-FFF2-40B4-BE49-F238E27FC236}">
                <a16:creationId xmlns:a16="http://schemas.microsoft.com/office/drawing/2014/main" id="{E70C97FD-4919-4A11-82FF-B959CDB6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6286500"/>
            <a:ext cx="3533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成对交错执行</a:t>
            </a:r>
          </a:p>
        </p:txBody>
      </p:sp>
      <p:sp>
        <p:nvSpPr>
          <p:cNvPr id="44" name="box-44">
            <a:extLst xmlns:a="http://schemas.openxmlformats.org/drawingml/2006/main">
              <a:ext uri="{FF2B5EF4-FFF2-40B4-BE49-F238E27FC236}">
                <a16:creationId xmlns:a16="http://schemas.microsoft.com/office/drawing/2014/main" id="{2487979B-0DFE-44CE-AD6C-3A27177F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6962775"/>
            <a:ext cx="3667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87B74"/>
            </a:solidFill>
          </a:ln>
        </p:spPr>
      </p:sp>
      <p:sp>
        <p:nvSpPr>
          <p:cNvPr id="45" name="text-45">
            <a:extLst xmlns:a="http://schemas.openxmlformats.org/drawingml/2006/main">
              <a:ext uri="{FF2B5EF4-FFF2-40B4-BE49-F238E27FC236}">
                <a16:creationId xmlns:a16="http://schemas.microsoft.com/office/drawing/2014/main" id="{9FF96606-1DC9-468B-A603-E5BD1791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6991350"/>
            <a:ext cx="3533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多策略代理筛选</a:t>
            </a:r>
          </a:p>
        </p:txBody>
      </p:sp>
      <p:sp>
        <p:nvSpPr>
          <p:cNvPr id="46" name="path-46">
            <a:extLst xmlns:a="http://schemas.openxmlformats.org/drawingml/2006/main">
              <a:ext uri="{FF2B5EF4-FFF2-40B4-BE49-F238E27FC236}">
                <a16:creationId xmlns:a16="http://schemas.microsoft.com/office/drawing/2014/main" id="{760C2B8A-0AB1-4727-A213-1B99DF5D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505575"/>
            <a:ext cx="523875" cy="238125"/>
          </a:xfrm>
          <a:custGeom xmlns:a="http://schemas.openxmlformats.org/drawingml/2006/main">
            <a:pathLst>
              <a:path w="523875" h="238125">
                <a:moveTo>
                  <a:pt x="0" y="238125"/>
                </a:moveTo>
                <a:lnTo>
                  <a:pt x="257175" y="238125"/>
                </a:lnTo>
                <a:lnTo>
                  <a:pt x="257175" y="0"/>
                </a:lnTo>
                <a:lnTo>
                  <a:pt x="52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87B74"/>
            </a:solidFill>
          </a:ln>
        </p:spPr>
      </p:sp>
      <p:sp>
        <p:nvSpPr>
          <p:cNvPr id="47" name="path-47">
            <a:extLst xmlns:a="http://schemas.openxmlformats.org/drawingml/2006/main">
              <a:ext uri="{FF2B5EF4-FFF2-40B4-BE49-F238E27FC236}">
                <a16:creationId xmlns:a16="http://schemas.microsoft.com/office/drawing/2014/main" id="{A35F30C0-D505-461F-9B09-6C42401C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467475"/>
            <a:ext cx="85725" cy="76200"/>
          </a:xfrm>
          <a:custGeom xmlns:a="http://schemas.openxmlformats.org/drawingml/2006/main"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lnTo>
                  <a:pt x="85725" y="38100"/>
                </a:lnTo>
              </a:path>
            </a:pathLst>
          </a:custGeom>
          <a:solidFill xmlns:a="http://schemas.openxmlformats.org/drawingml/2006/main">
            <a:srgbClr val="287B74"/>
          </a:solidFill>
          <a:ln xmlns:a="http://schemas.openxmlformats.org/drawingml/2006/main" w="0">
            <a:solidFill>
              <a:srgbClr val="287B74"/>
            </a:solidFill>
          </a:ln>
        </p:spPr>
      </p:sp>
      <p:sp>
        <p:nvSpPr>
          <p:cNvPr id="48" name="path-48">
            <a:extLst xmlns:a="http://schemas.openxmlformats.org/drawingml/2006/main">
              <a:ext uri="{FF2B5EF4-FFF2-40B4-BE49-F238E27FC236}">
                <a16:creationId xmlns:a16="http://schemas.microsoft.com/office/drawing/2014/main" id="{CB749B08-C8B2-4648-BF64-353C8781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6743700"/>
            <a:ext cx="266700" cy="466725"/>
          </a:xfrm>
          <a:custGeom xmlns:a="http://schemas.openxmlformats.org/drawingml/2006/main">
            <a:pathLst>
              <a:path w="266700" h="466725">
                <a:moveTo>
                  <a:pt x="0" y="0"/>
                </a:moveTo>
                <a:lnTo>
                  <a:pt x="0" y="466725"/>
                </a:lnTo>
                <a:lnTo>
                  <a:pt x="26670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87B74"/>
            </a:solidFill>
          </a:ln>
        </p:spPr>
      </p:sp>
      <p:sp>
        <p:nvSpPr>
          <p:cNvPr id="49" name="path-49">
            <a:extLst xmlns:a="http://schemas.openxmlformats.org/drawingml/2006/main">
              <a:ext uri="{FF2B5EF4-FFF2-40B4-BE49-F238E27FC236}">
                <a16:creationId xmlns:a16="http://schemas.microsoft.com/office/drawing/2014/main" id="{4D9A3AF5-DF2C-4D49-8D18-0E53FF6B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7172325"/>
            <a:ext cx="85725" cy="76200"/>
          </a:xfrm>
          <a:custGeom xmlns:a="http://schemas.openxmlformats.org/drawingml/2006/main"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lnTo>
                  <a:pt x="85725" y="38100"/>
                </a:lnTo>
              </a:path>
            </a:pathLst>
          </a:custGeom>
          <a:solidFill xmlns:a="http://schemas.openxmlformats.org/drawingml/2006/main">
            <a:srgbClr val="287B74"/>
          </a:solidFill>
          <a:ln xmlns:a="http://schemas.openxmlformats.org/drawingml/2006/main" w="0">
            <a:solidFill>
              <a:srgbClr val="287B74"/>
            </a:solidFill>
          </a:ln>
        </p:spPr>
      </p:sp>
      <p:sp>
        <p:nvSpPr>
          <p:cNvPr id="50" name="text-50">
            <a:extLst xmlns:a="http://schemas.openxmlformats.org/drawingml/2006/main">
              <a:ext uri="{FF2B5EF4-FFF2-40B4-BE49-F238E27FC236}">
                <a16:creationId xmlns:a16="http://schemas.microsoft.com/office/drawing/2014/main" id="{BC894352-0917-4860-A830-5A4B324C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772275"/>
            <a:ext cx="28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1" name="path-51">
            <a:extLst xmlns:a="http://schemas.openxmlformats.org/drawingml/2006/main">
              <a:ext uri="{FF2B5EF4-FFF2-40B4-BE49-F238E27FC236}">
                <a16:creationId xmlns:a16="http://schemas.microsoft.com/office/drawing/2014/main" id="{37B7DF8F-C197-4CA2-9D23-98015859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505575"/>
            <a:ext cx="304800" cy="704850"/>
          </a:xfrm>
          <a:custGeom xmlns:a="http://schemas.openxmlformats.org/drawingml/2006/main">
            <a:pathLst>
              <a:path w="304800" h="704850">
                <a:moveTo>
                  <a:pt x="0" y="0"/>
                </a:moveTo>
                <a:lnTo>
                  <a:pt x="304800" y="0"/>
                </a:lnTo>
                <a:lnTo>
                  <a:pt x="304800" y="704850"/>
                </a:lnTo>
                <a:lnTo>
                  <a:pt x="0" y="7048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87B74"/>
            </a:solidFill>
          </a:ln>
        </p:spPr>
      </p:sp>
      <p:sp>
        <p:nvSpPr>
          <p:cNvPr id="52" name="path-52">
            <a:extLst xmlns:a="http://schemas.openxmlformats.org/drawingml/2006/main">
              <a:ext uri="{FF2B5EF4-FFF2-40B4-BE49-F238E27FC236}">
                <a16:creationId xmlns:a16="http://schemas.microsoft.com/office/drawing/2014/main" id="{3109EC8D-D8C6-4585-8DC1-58668E2C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858000"/>
            <a:ext cx="314325" cy="9525"/>
          </a:xfrm>
          <a:custGeom xmlns:a="http://schemas.openxmlformats.org/drawingml/2006/main">
            <a:pathLst>
              <a:path w="314325" h="952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287B74"/>
            </a:solidFill>
          </a:ln>
        </p:spPr>
      </p:sp>
      <p:sp>
        <p:nvSpPr>
          <p:cNvPr id="53" name="path-53">
            <a:extLst xmlns:a="http://schemas.openxmlformats.org/drawingml/2006/main">
              <a:ext uri="{FF2B5EF4-FFF2-40B4-BE49-F238E27FC236}">
                <a16:creationId xmlns:a16="http://schemas.microsoft.com/office/drawing/2014/main" id="{1E22F965-3977-44D2-BD69-8E23A3D9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6819900"/>
            <a:ext cx="85725" cy="76200"/>
          </a:xfrm>
          <a:custGeom xmlns:a="http://schemas.openxmlformats.org/drawingml/2006/main"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lnTo>
                  <a:pt x="85725" y="38100"/>
                </a:lnTo>
              </a:path>
            </a:pathLst>
          </a:custGeom>
          <a:solidFill xmlns:a="http://schemas.openxmlformats.org/drawingml/2006/main">
            <a:srgbClr val="287B74"/>
          </a:solidFill>
          <a:ln xmlns:a="http://schemas.openxmlformats.org/drawingml/2006/main" w="0">
            <a:solidFill>
              <a:srgbClr val="287B74"/>
            </a:solidFill>
          </a:ln>
        </p:spPr>
      </p:sp>
      <p:sp>
        <p:nvSpPr>
          <p:cNvPr id="54" name="box-54">
            <a:extLst xmlns:a="http://schemas.openxmlformats.org/drawingml/2006/main">
              <a:ext uri="{FF2B5EF4-FFF2-40B4-BE49-F238E27FC236}">
                <a16:creationId xmlns:a16="http://schemas.microsoft.com/office/drawing/2014/main" id="{987916D2-C922-49FC-9C5E-A8793474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6448425"/>
            <a:ext cx="32385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4"/>
          </a:solidFill>
          <a:ln xmlns:a="http://schemas.openxmlformats.org/drawingml/2006/main" w="12383">
            <a:solidFill>
              <a:srgbClr val="287B74"/>
            </a:solidFill>
          </a:ln>
        </p:spPr>
      </p:sp>
      <p:sp>
        <p:nvSpPr>
          <p:cNvPr id="55" name="text-55">
            <a:extLst xmlns:a="http://schemas.openxmlformats.org/drawingml/2006/main">
              <a:ext uri="{FF2B5EF4-FFF2-40B4-BE49-F238E27FC236}">
                <a16:creationId xmlns:a16="http://schemas.microsoft.com/office/drawing/2014/main" id="{2658C0E1-2A00-483D-9FF7-E74D5E3D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477000"/>
            <a:ext cx="31051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N核评估择优</a:t>
            </a:r>
          </a:p>
        </p:txBody>
      </p:sp>
      <p:sp>
        <p:nvSpPr>
          <p:cNvPr id="56" name="path-56">
            <a:extLst xmlns:a="http://schemas.openxmlformats.org/drawingml/2006/main">
              <a:ext uri="{FF2B5EF4-FFF2-40B4-BE49-F238E27FC236}">
                <a16:creationId xmlns:a16="http://schemas.microsoft.com/office/drawing/2014/main" id="{D556A7D6-1A79-44B2-B8F5-97F964B9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7153275"/>
            <a:ext cx="7400925" cy="409575"/>
          </a:xfrm>
          <a:custGeom xmlns:a="http://schemas.openxmlformats.org/drawingml/2006/main">
            <a:pathLst>
              <a:path w="7400925" h="409575">
                <a:moveTo>
                  <a:pt x="0" y="0"/>
                </a:moveTo>
                <a:lnTo>
                  <a:pt x="0" y="409575"/>
                </a:lnTo>
                <a:lnTo>
                  <a:pt x="7400925" y="409575"/>
                </a:lnTo>
                <a:lnTo>
                  <a:pt x="7400925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287B74"/>
            </a:solidFill>
          </a:ln>
        </p:spPr>
      </p:sp>
      <p:sp>
        <p:nvSpPr>
          <p:cNvPr id="57" name="path-57">
            <a:extLst xmlns:a="http://schemas.openxmlformats.org/drawingml/2006/main">
              <a:ext uri="{FF2B5EF4-FFF2-40B4-BE49-F238E27FC236}">
                <a16:creationId xmlns:a16="http://schemas.microsoft.com/office/drawing/2014/main" id="{F018C8C5-8265-488A-8D15-B4DC0899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7277100"/>
            <a:ext cx="76200" cy="85725"/>
          </a:xfrm>
          <a:custGeom xmlns:a="http://schemas.openxmlformats.org/drawingml/2006/main">
            <a:pathLst>
              <a:path w="76200" h="85725">
                <a:moveTo>
                  <a:pt x="38100" y="0"/>
                </a:moveTo>
                <a:lnTo>
                  <a:pt x="0" y="85725"/>
                </a:lnTo>
                <a:lnTo>
                  <a:pt x="76200" y="85725"/>
                </a:lnTo>
                <a:lnTo>
                  <a:pt x="38100" y="0"/>
                </a:lnTo>
              </a:path>
            </a:pathLst>
          </a:custGeom>
          <a:solidFill xmlns:a="http://schemas.openxmlformats.org/drawingml/2006/main">
            <a:srgbClr val="287B74"/>
          </a:solidFill>
          <a:ln xmlns:a="http://schemas.openxmlformats.org/drawingml/2006/main" w="0">
            <a:solidFill>
              <a:srgbClr val="287B74"/>
            </a:solidFill>
          </a:ln>
        </p:spPr>
      </p:sp>
      <p:sp>
        <p:nvSpPr>
          <p:cNvPr id="58" name="box-58">
            <a:extLst xmlns:a="http://schemas.openxmlformats.org/drawingml/2006/main">
              <a:ext uri="{FF2B5EF4-FFF2-40B4-BE49-F238E27FC236}">
                <a16:creationId xmlns:a16="http://schemas.microsoft.com/office/drawing/2014/main" id="{9BD791D0-8669-4479-84E3-F50C6453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7448550"/>
            <a:ext cx="1562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9" name="text-59">
            <a:extLst xmlns:a="http://schemas.openxmlformats.org/drawingml/2006/main">
              <a:ext uri="{FF2B5EF4-FFF2-40B4-BE49-F238E27FC236}">
                <a16:creationId xmlns:a16="http://schemas.microsoft.com/office/drawing/2014/main" id="{11AD8124-3D98-47A3-90EB-1E605C89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7448550"/>
            <a:ext cx="1562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87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87B74"/>
                </a:solidFill>
                <a:latin typeface="Microsoft YaHei"/>
                <a:ea typeface="Microsoft YaHei"/>
                <a:cs typeface="Microsoft YaHei"/>
              </a:rPr>
              <a:t>单核候选</a:t>
            </a:r>
          </a:p>
        </p:txBody>
      </p:sp>
      <p:sp>
        <p:nvSpPr>
          <p:cNvPr id="60" name="path-60">
            <a:extLst xmlns:a="http://schemas.openxmlformats.org/drawingml/2006/main">
              <a:ext uri="{FF2B5EF4-FFF2-40B4-BE49-F238E27FC236}">
                <a16:creationId xmlns:a16="http://schemas.microsoft.com/office/drawing/2014/main" id="{7B82AEF6-77C7-486B-87AA-F63394D1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7734300"/>
            <a:ext cx="9525" cy="552450"/>
          </a:xfrm>
          <a:custGeom xmlns:a="http://schemas.openxmlformats.org/drawingml/2006/main">
            <a:pathLst>
              <a:path w="9525" h="552450">
                <a:moveTo>
                  <a:pt x="0" y="0"/>
                </a:moveTo>
                <a:lnTo>
                  <a:pt x="0" y="55245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287B74"/>
            </a:solidFill>
          </a:ln>
        </p:spPr>
      </p:sp>
      <p:sp>
        <p:nvSpPr>
          <p:cNvPr id="61" name="path-61">
            <a:extLst xmlns:a="http://schemas.openxmlformats.org/drawingml/2006/main">
              <a:ext uri="{FF2B5EF4-FFF2-40B4-BE49-F238E27FC236}">
                <a16:creationId xmlns:a16="http://schemas.microsoft.com/office/drawing/2014/main" id="{C080C2B4-C781-429A-8737-1D01BDC5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01025"/>
            <a:ext cx="76200" cy="85725"/>
          </a:xfrm>
          <a:custGeom xmlns:a="http://schemas.openxmlformats.org/drawingml/2006/main">
            <a:pathLst>
              <a:path w="76200" h="85725">
                <a:moveTo>
                  <a:pt x="38100" y="85725"/>
                </a:moveTo>
                <a:lnTo>
                  <a:pt x="76200" y="0"/>
                </a:lnTo>
                <a:lnTo>
                  <a:pt x="0" y="0"/>
                </a:lnTo>
                <a:lnTo>
                  <a:pt x="38100" y="85725"/>
                </a:lnTo>
              </a:path>
            </a:pathLst>
          </a:custGeom>
          <a:solidFill xmlns:a="http://schemas.openxmlformats.org/drawingml/2006/main">
            <a:srgbClr val="287B74"/>
          </a:solidFill>
          <a:ln xmlns:a="http://schemas.openxmlformats.org/drawingml/2006/main" w="0">
            <a:solidFill>
              <a:srgbClr val="287B74"/>
            </a:solidFill>
          </a:ln>
        </p:spPr>
      </p:sp>
      <p:sp>
        <p:nvSpPr>
          <p:cNvPr id="62" name="box-62">
            <a:extLst xmlns:a="http://schemas.openxmlformats.org/drawingml/2006/main">
              <a:ext uri="{FF2B5EF4-FFF2-40B4-BE49-F238E27FC236}">
                <a16:creationId xmlns:a16="http://schemas.microsoft.com/office/drawing/2014/main" id="{74473566-D3D8-499B-9ED5-09F75724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7858125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3" name="text-63">
            <a:extLst xmlns:a="http://schemas.openxmlformats.org/drawingml/2006/main">
              <a:ext uri="{FF2B5EF4-FFF2-40B4-BE49-F238E27FC236}">
                <a16:creationId xmlns:a16="http://schemas.microsoft.com/office/drawing/2014/main" id="{9FAD0D14-B1EF-428E-A4E4-9AB4F1EB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78581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779"/>
                </a:solidFill>
                <a:latin typeface="Microsoft YaHei"/>
                <a:ea typeface="Microsoft YaHei"/>
                <a:cs typeface="Microsoft YaHei"/>
              </a:rPr>
              <a:t>基准方案</a:t>
            </a:r>
          </a:p>
        </p:txBody>
      </p:sp>
      <p:sp>
        <p:nvSpPr>
          <p:cNvPr id="64" name="box-64">
            <a:extLst xmlns:a="http://schemas.openxmlformats.org/drawingml/2006/main">
              <a:ext uri="{FF2B5EF4-FFF2-40B4-BE49-F238E27FC236}">
                <a16:creationId xmlns:a16="http://schemas.microsoft.com/office/drawing/2014/main" id="{C7FA55FA-A279-400A-AB8F-37E9FA11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286750"/>
            <a:ext cx="104775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06B34"/>
            </a:solidFill>
          </a:ln>
        </p:spPr>
      </p:sp>
      <p:sp>
        <p:nvSpPr>
          <p:cNvPr id="65" name="box-65">
            <a:extLst xmlns:a="http://schemas.openxmlformats.org/drawingml/2006/main">
              <a:ext uri="{FF2B5EF4-FFF2-40B4-BE49-F238E27FC236}">
                <a16:creationId xmlns:a16="http://schemas.microsoft.com/office/drawing/2014/main" id="{8C73C76D-AECC-4680-8565-8CECC99C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286750"/>
            <a:ext cx="1047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4EA"/>
          </a:solidFill>
          <a:ln xmlns:a="http://schemas.openxmlformats.org/drawingml/2006/main" w="0">
            <a:noFill/>
          </a:ln>
        </p:spPr>
      </p:sp>
      <p:sp>
        <p:nvSpPr>
          <p:cNvPr id="66" name="text-66">
            <a:extLst xmlns:a="http://schemas.openxmlformats.org/drawingml/2006/main">
              <a:ext uri="{FF2B5EF4-FFF2-40B4-BE49-F238E27FC236}">
                <a16:creationId xmlns:a16="http://schemas.microsoft.com/office/drawing/2014/main" id="{75FD26E8-F07A-4512-B9DC-6002ACB0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34375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06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06B34"/>
                </a:solidFill>
                <a:latin typeface="Microsoft YaHei"/>
                <a:ea typeface="Microsoft YaHei"/>
                <a:cs typeface="Microsoft YaHei"/>
              </a:rPr>
              <a:t>问题三   共享L2 Cache</a:t>
            </a:r>
          </a:p>
        </p:txBody>
      </p:sp>
      <p:sp>
        <p:nvSpPr>
          <p:cNvPr id="67" name="box-67">
            <a:extLst xmlns:a="http://schemas.openxmlformats.org/drawingml/2006/main">
              <a:ext uri="{FF2B5EF4-FFF2-40B4-BE49-F238E27FC236}">
                <a16:creationId xmlns:a16="http://schemas.microsoft.com/office/drawing/2014/main" id="{3CB8133B-72B3-4520-B0BE-7F7CC297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963025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4EA"/>
          </a:solidFill>
          <a:ln xmlns:a="http://schemas.openxmlformats.org/drawingml/2006/main" w="12383">
            <a:solidFill>
              <a:srgbClr val="B06B34"/>
            </a:solidFill>
          </a:ln>
        </p:spPr>
      </p:sp>
      <p:sp>
        <p:nvSpPr>
          <p:cNvPr id="68" name="text-68">
            <a:extLst xmlns:a="http://schemas.openxmlformats.org/drawingml/2006/main">
              <a:ext uri="{FF2B5EF4-FFF2-40B4-BE49-F238E27FC236}">
                <a16:creationId xmlns:a16="http://schemas.microsoft.com/office/drawing/2014/main" id="{0CAB921A-50E4-47A1-BBA0-9B2ABD97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991600"/>
            <a:ext cx="20097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深度窗口划分</a:t>
            </a:r>
          </a:p>
        </p:txBody>
      </p:sp>
      <p:sp>
        <p:nvSpPr>
          <p:cNvPr id="69" name="box-69">
            <a:extLst xmlns:a="http://schemas.openxmlformats.org/drawingml/2006/main">
              <a:ext uri="{FF2B5EF4-FFF2-40B4-BE49-F238E27FC236}">
                <a16:creationId xmlns:a16="http://schemas.microsoft.com/office/drawing/2014/main" id="{FD183558-46A0-4740-B8C7-FE75A783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8963025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06B34"/>
            </a:solidFill>
          </a:ln>
        </p:spPr>
      </p:sp>
      <p:sp>
        <p:nvSpPr>
          <p:cNvPr id="70" name="text-70">
            <a:extLst xmlns:a="http://schemas.openxmlformats.org/drawingml/2006/main">
              <a:ext uri="{FF2B5EF4-FFF2-40B4-BE49-F238E27FC236}">
                <a16:creationId xmlns:a16="http://schemas.microsoft.com/office/drawing/2014/main" id="{653B5303-445E-48A8-9D35-53CC04D7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8991600"/>
            <a:ext cx="20097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连通分量分组</a:t>
            </a:r>
          </a:p>
        </p:txBody>
      </p:sp>
      <p:sp>
        <p:nvSpPr>
          <p:cNvPr id="71" name="box-71">
            <a:extLst xmlns:a="http://schemas.openxmlformats.org/drawingml/2006/main">
              <a:ext uri="{FF2B5EF4-FFF2-40B4-BE49-F238E27FC236}">
                <a16:creationId xmlns:a16="http://schemas.microsoft.com/office/drawing/2014/main" id="{1C5EA28E-E276-4349-A695-482E5235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8963025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06B34"/>
            </a:solidFill>
          </a:ln>
        </p:spPr>
      </p:sp>
      <p:sp>
        <p:nvSpPr>
          <p:cNvPr id="72" name="text-72">
            <a:extLst xmlns:a="http://schemas.openxmlformats.org/drawingml/2006/main">
              <a:ext uri="{FF2B5EF4-FFF2-40B4-BE49-F238E27FC236}">
                <a16:creationId xmlns:a16="http://schemas.microsoft.com/office/drawing/2014/main" id="{FE198562-2A69-47E7-B523-EC063673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8991600"/>
            <a:ext cx="20097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前驱亲和分核</a:t>
            </a:r>
          </a:p>
        </p:txBody>
      </p:sp>
      <p:sp>
        <p:nvSpPr>
          <p:cNvPr id="73" name="box-73">
            <a:extLst xmlns:a="http://schemas.openxmlformats.org/drawingml/2006/main">
              <a:ext uri="{FF2B5EF4-FFF2-40B4-BE49-F238E27FC236}">
                <a16:creationId xmlns:a16="http://schemas.microsoft.com/office/drawing/2014/main" id="{03F50B59-04E6-474C-A646-2380A3C2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8963025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4EA"/>
          </a:solidFill>
          <a:ln xmlns:a="http://schemas.openxmlformats.org/drawingml/2006/main" w="12383">
            <a:solidFill>
              <a:srgbClr val="B06B34"/>
            </a:solidFill>
          </a:ln>
        </p:spPr>
      </p:sp>
      <p:sp>
        <p:nvSpPr>
          <p:cNvPr id="74" name="text-74">
            <a:extLst xmlns:a="http://schemas.openxmlformats.org/drawingml/2006/main">
              <a:ext uri="{FF2B5EF4-FFF2-40B4-BE49-F238E27FC236}">
                <a16:creationId xmlns:a16="http://schemas.microsoft.com/office/drawing/2014/main" id="{0D7C5543-280A-4CB4-87B2-CE382610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8991600"/>
            <a:ext cx="2343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候选集</a:t>
            </a:r>
          </a:p>
        </p:txBody>
      </p:sp>
      <p:sp>
        <p:nvSpPr>
          <p:cNvPr id="75" name="path-75">
            <a:extLst xmlns:a="http://schemas.openxmlformats.org/drawingml/2006/main">
              <a:ext uri="{FF2B5EF4-FFF2-40B4-BE49-F238E27FC236}">
                <a16:creationId xmlns:a16="http://schemas.microsoft.com/office/drawing/2014/main" id="{CE3D4DB7-5CF6-4A63-856F-A6690AAD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9258300"/>
            <a:ext cx="333375" cy="9525"/>
          </a:xfrm>
          <a:custGeom xmlns:a="http://schemas.openxmlformats.org/drawingml/2006/main"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B06B34"/>
            </a:solidFill>
          </a:ln>
        </p:spPr>
      </p:sp>
      <p:sp>
        <p:nvSpPr>
          <p:cNvPr id="76" name="path-76">
            <a:extLst xmlns:a="http://schemas.openxmlformats.org/drawingml/2006/main">
              <a:ext uri="{FF2B5EF4-FFF2-40B4-BE49-F238E27FC236}">
                <a16:creationId xmlns:a16="http://schemas.microsoft.com/office/drawing/2014/main" id="{9B37CC08-7528-4251-93C5-67A31C8F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9220200"/>
            <a:ext cx="85725" cy="76200"/>
          </a:xfrm>
          <a:custGeom xmlns:a="http://schemas.openxmlformats.org/drawingml/2006/main"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lnTo>
                  <a:pt x="85725" y="38100"/>
                </a:lnTo>
              </a:path>
            </a:pathLst>
          </a:custGeom>
          <a:solidFill xmlns:a="http://schemas.openxmlformats.org/drawingml/2006/main">
            <a:srgbClr val="B06B34"/>
          </a:solidFill>
          <a:ln xmlns:a="http://schemas.openxmlformats.org/drawingml/2006/main" w="0">
            <a:solidFill>
              <a:srgbClr val="B06B34"/>
            </a:solidFill>
          </a:ln>
        </p:spPr>
      </p:sp>
      <p:sp>
        <p:nvSpPr>
          <p:cNvPr id="77" name="path-77">
            <a:extLst xmlns:a="http://schemas.openxmlformats.org/drawingml/2006/main">
              <a:ext uri="{FF2B5EF4-FFF2-40B4-BE49-F238E27FC236}">
                <a16:creationId xmlns:a16="http://schemas.microsoft.com/office/drawing/2014/main" id="{C4401E88-C75E-4CC4-8E08-F466C345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9258300"/>
            <a:ext cx="333375" cy="9525"/>
          </a:xfrm>
          <a:custGeom xmlns:a="http://schemas.openxmlformats.org/drawingml/2006/main"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B06B34"/>
            </a:solidFill>
          </a:ln>
        </p:spPr>
      </p:sp>
      <p:sp>
        <p:nvSpPr>
          <p:cNvPr id="78" name="path-78">
            <a:extLst xmlns:a="http://schemas.openxmlformats.org/drawingml/2006/main">
              <a:ext uri="{FF2B5EF4-FFF2-40B4-BE49-F238E27FC236}">
                <a16:creationId xmlns:a16="http://schemas.microsoft.com/office/drawing/2014/main" id="{64B8AEC9-975A-480F-831B-1732099C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9220200"/>
            <a:ext cx="85725" cy="76200"/>
          </a:xfrm>
          <a:custGeom xmlns:a="http://schemas.openxmlformats.org/drawingml/2006/main"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lnTo>
                  <a:pt x="85725" y="38100"/>
                </a:lnTo>
              </a:path>
            </a:pathLst>
          </a:custGeom>
          <a:solidFill xmlns:a="http://schemas.openxmlformats.org/drawingml/2006/main">
            <a:srgbClr val="B06B34"/>
          </a:solidFill>
          <a:ln xmlns:a="http://schemas.openxmlformats.org/drawingml/2006/main" w="0">
            <a:solidFill>
              <a:srgbClr val="B06B34"/>
            </a:solidFill>
          </a:ln>
        </p:spPr>
      </p:sp>
      <p:sp>
        <p:nvSpPr>
          <p:cNvPr id="79" name="path-79">
            <a:extLst xmlns:a="http://schemas.openxmlformats.org/drawingml/2006/main">
              <a:ext uri="{FF2B5EF4-FFF2-40B4-BE49-F238E27FC236}">
                <a16:creationId xmlns:a16="http://schemas.microsoft.com/office/drawing/2014/main" id="{282EE1E4-94DB-468C-A581-CB9CDA68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258300"/>
            <a:ext cx="428625" cy="9525"/>
          </a:xfrm>
          <a:custGeom xmlns:a="http://schemas.openxmlformats.org/drawingml/2006/main">
            <a:pathLst>
              <a:path w="428625" h="9525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B06B34"/>
            </a:solidFill>
          </a:ln>
        </p:spPr>
      </p:sp>
      <p:sp>
        <p:nvSpPr>
          <p:cNvPr id="80" name="path-80">
            <a:extLst xmlns:a="http://schemas.openxmlformats.org/drawingml/2006/main">
              <a:ext uri="{FF2B5EF4-FFF2-40B4-BE49-F238E27FC236}">
                <a16:creationId xmlns:a16="http://schemas.microsoft.com/office/drawing/2014/main" id="{03A82EB9-4E01-4C80-8CB9-B7477671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9220200"/>
            <a:ext cx="85725" cy="76200"/>
          </a:xfrm>
          <a:custGeom xmlns:a="http://schemas.openxmlformats.org/drawingml/2006/main"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lnTo>
                  <a:pt x="85725" y="38100"/>
                </a:lnTo>
              </a:path>
            </a:pathLst>
          </a:custGeom>
          <a:solidFill xmlns:a="http://schemas.openxmlformats.org/drawingml/2006/main">
            <a:srgbClr val="B06B34"/>
          </a:solidFill>
          <a:ln xmlns:a="http://schemas.openxmlformats.org/drawingml/2006/main" w="0">
            <a:solidFill>
              <a:srgbClr val="B06B34"/>
            </a:solidFill>
          </a:ln>
        </p:spPr>
      </p:sp>
      <p:sp>
        <p:nvSpPr>
          <p:cNvPr id="81" name="text-81">
            <a:extLst xmlns:a="http://schemas.openxmlformats.org/drawingml/2006/main">
              <a:ext uri="{FF2B5EF4-FFF2-40B4-BE49-F238E27FC236}">
                <a16:creationId xmlns:a16="http://schemas.microsoft.com/office/drawing/2014/main" id="{5CF782C2-3D0D-43A7-8544-7CE72841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60120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9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779"/>
                </a:solidFill>
                <a:latin typeface="Microsoft YaHei"/>
                <a:ea typeface="Microsoft YaHei"/>
                <a:cs typeface="Microsoft YaHei"/>
              </a:rPr>
              <a:t>w = 4 / 10 / 16</a:t>
            </a:r>
          </a:p>
        </p:txBody>
      </p:sp>
      <p:sp>
        <p:nvSpPr>
          <p:cNvPr id="82" name="path-82">
            <a:extLst xmlns:a="http://schemas.openxmlformats.org/drawingml/2006/main">
              <a:ext uri="{FF2B5EF4-FFF2-40B4-BE49-F238E27FC236}">
                <a16:creationId xmlns:a16="http://schemas.microsoft.com/office/drawing/2014/main" id="{4047891D-4CA2-49C6-A826-C491DC55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9553575"/>
            <a:ext cx="9525" cy="409575"/>
          </a:xfrm>
          <a:custGeom xmlns:a="http://schemas.openxmlformats.org/drawingml/2006/main">
            <a:pathLst>
              <a:path w="9525" h="409575">
                <a:moveTo>
                  <a:pt x="0" y="0"/>
                </a:moveTo>
                <a:lnTo>
                  <a:pt x="0" y="409575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B06B34"/>
            </a:solidFill>
          </a:ln>
        </p:spPr>
      </p:sp>
      <p:sp>
        <p:nvSpPr>
          <p:cNvPr id="83" name="path-83">
            <a:extLst xmlns:a="http://schemas.openxmlformats.org/drawingml/2006/main">
              <a:ext uri="{FF2B5EF4-FFF2-40B4-BE49-F238E27FC236}">
                <a16:creationId xmlns:a16="http://schemas.microsoft.com/office/drawing/2014/main" id="{A2E07F4C-276F-412E-AF46-D1766C28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9877425"/>
            <a:ext cx="76200" cy="85725"/>
          </a:xfrm>
          <a:custGeom xmlns:a="http://schemas.openxmlformats.org/drawingml/2006/main">
            <a:pathLst>
              <a:path w="76200" h="85725">
                <a:moveTo>
                  <a:pt x="38100" y="85725"/>
                </a:moveTo>
                <a:lnTo>
                  <a:pt x="76200" y="0"/>
                </a:lnTo>
                <a:lnTo>
                  <a:pt x="0" y="0"/>
                </a:lnTo>
                <a:lnTo>
                  <a:pt x="38100" y="85725"/>
                </a:lnTo>
              </a:path>
            </a:pathLst>
          </a:custGeom>
          <a:solidFill xmlns:a="http://schemas.openxmlformats.org/drawingml/2006/main">
            <a:srgbClr val="B06B34"/>
          </a:solidFill>
          <a:ln xmlns:a="http://schemas.openxmlformats.org/drawingml/2006/main" w="0">
            <a:solidFill>
              <a:srgbClr val="B06B34"/>
            </a:solidFill>
          </a:ln>
        </p:spPr>
      </p:sp>
      <p:sp>
        <p:nvSpPr>
          <p:cNvPr id="84" name="box-84">
            <a:extLst xmlns:a="http://schemas.openxmlformats.org/drawingml/2006/main">
              <a:ext uri="{FF2B5EF4-FFF2-40B4-BE49-F238E27FC236}">
                <a16:creationId xmlns:a16="http://schemas.microsoft.com/office/drawing/2014/main" id="{F5B284C4-96C8-4C08-829A-C6AB7AA8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963150"/>
            <a:ext cx="3095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4EA"/>
          </a:solidFill>
          <a:ln xmlns:a="http://schemas.openxmlformats.org/drawingml/2006/main" w="12383">
            <a:solidFill>
              <a:srgbClr val="B06B34"/>
            </a:solidFill>
          </a:ln>
        </p:spPr>
      </p:sp>
      <p:sp>
        <p:nvSpPr>
          <p:cNvPr id="85" name="text-85">
            <a:extLst xmlns:a="http://schemas.openxmlformats.org/drawingml/2006/main">
              <a:ext uri="{FF2B5EF4-FFF2-40B4-BE49-F238E27FC236}">
                <a16:creationId xmlns:a16="http://schemas.microsoft.com/office/drawing/2014/main" id="{52F326EA-5EBC-4F0D-AD20-A2AB6CD5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9991725"/>
            <a:ext cx="2962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Cache耗时择优</a:t>
            </a:r>
          </a:p>
        </p:txBody>
      </p:sp>
      <p:sp>
        <p:nvSpPr>
          <p:cNvPr id="86" name="path-86">
            <a:extLst xmlns:a="http://schemas.openxmlformats.org/drawingml/2006/main">
              <a:ext uri="{FF2B5EF4-FFF2-40B4-BE49-F238E27FC236}">
                <a16:creationId xmlns:a16="http://schemas.microsoft.com/office/drawing/2014/main" id="{12580FB5-33A0-4255-B083-CB825BA5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0201275"/>
            <a:ext cx="666750" cy="9525"/>
          </a:xfrm>
          <a:custGeom xmlns:a="http://schemas.openxmlformats.org/drawingml/2006/main">
            <a:pathLst>
              <a:path w="666750" h="9525">
                <a:moveTo>
                  <a:pt x="6667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B06B34"/>
            </a:solidFill>
          </a:ln>
        </p:spPr>
      </p:sp>
      <p:sp>
        <p:nvSpPr>
          <p:cNvPr id="87" name="path-87">
            <a:extLst xmlns:a="http://schemas.openxmlformats.org/drawingml/2006/main">
              <a:ext uri="{FF2B5EF4-FFF2-40B4-BE49-F238E27FC236}">
                <a16:creationId xmlns:a16="http://schemas.microsoft.com/office/drawing/2014/main" id="{73CB6172-0CEE-4BBB-B935-CD0C56C8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0163175"/>
            <a:ext cx="85725" cy="76200"/>
          </a:xfrm>
          <a:custGeom xmlns:a="http://schemas.openxmlformats.org/drawingml/2006/main">
            <a:pathLst>
              <a:path w="85725" h="76200">
                <a:moveTo>
                  <a:pt x="0" y="38100"/>
                </a:moveTo>
                <a:lnTo>
                  <a:pt x="85725" y="76200"/>
                </a:lnTo>
                <a:lnTo>
                  <a:pt x="85725" y="0"/>
                </a:lnTo>
                <a:lnTo>
                  <a:pt x="0" y="38100"/>
                </a:lnTo>
              </a:path>
            </a:pathLst>
          </a:custGeom>
          <a:solidFill xmlns:a="http://schemas.openxmlformats.org/drawingml/2006/main">
            <a:srgbClr val="B06B34"/>
          </a:solidFill>
          <a:ln xmlns:a="http://schemas.openxmlformats.org/drawingml/2006/main" w="0">
            <a:solidFill>
              <a:srgbClr val="B06B34"/>
            </a:solidFill>
          </a:ln>
        </p:spPr>
      </p:sp>
      <p:sp>
        <p:nvSpPr>
          <p:cNvPr id="88" name="box-88">
            <a:extLst xmlns:a="http://schemas.openxmlformats.org/drawingml/2006/main">
              <a:ext uri="{FF2B5EF4-FFF2-40B4-BE49-F238E27FC236}">
                <a16:creationId xmlns:a16="http://schemas.microsoft.com/office/drawing/2014/main" id="{74F58A14-7E3E-4D49-849B-B9004CFC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9963150"/>
            <a:ext cx="3571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06B34"/>
            </a:solidFill>
          </a:ln>
        </p:spPr>
      </p:sp>
      <p:sp>
        <p:nvSpPr>
          <p:cNvPr id="89" name="text-89">
            <a:extLst xmlns:a="http://schemas.openxmlformats.org/drawingml/2006/main">
              <a:ext uri="{FF2B5EF4-FFF2-40B4-BE49-F238E27FC236}">
                <a16:creationId xmlns:a16="http://schemas.microsoft.com/office/drawing/2014/main" id="{CEBD74ED-A74D-433E-81C8-A260A1AC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9991725"/>
            <a:ext cx="3438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有／无L2配对分析</a:t>
            </a:r>
          </a:p>
        </p:txBody>
      </p:sp>
      <p:sp>
        <p:nvSpPr>
          <p:cNvPr id="90" name="path-90">
            <a:extLst xmlns:a="http://schemas.openxmlformats.org/drawingml/2006/main">
              <a:ext uri="{FF2B5EF4-FFF2-40B4-BE49-F238E27FC236}">
                <a16:creationId xmlns:a16="http://schemas.microsoft.com/office/drawing/2014/main" id="{3096BDD7-6032-4B2F-B4EC-EB913F8C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059180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596779"/>
            </a:solidFill>
          </a:ln>
        </p:spPr>
      </p:sp>
      <p:sp>
        <p:nvSpPr>
          <p:cNvPr id="91" name="path-91">
            <a:extLst xmlns:a="http://schemas.openxmlformats.org/drawingml/2006/main">
              <a:ext uri="{FF2B5EF4-FFF2-40B4-BE49-F238E27FC236}">
                <a16:creationId xmlns:a16="http://schemas.microsoft.com/office/drawing/2014/main" id="{45B9A665-91B5-435D-BAC0-A792B909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0934700"/>
            <a:ext cx="76200" cy="85725"/>
          </a:xfrm>
          <a:custGeom xmlns:a="http://schemas.openxmlformats.org/drawingml/2006/main">
            <a:pathLst>
              <a:path w="76200" h="85725">
                <a:moveTo>
                  <a:pt x="38100" y="85725"/>
                </a:moveTo>
                <a:lnTo>
                  <a:pt x="76200" y="0"/>
                </a:lnTo>
                <a:lnTo>
                  <a:pt x="0" y="0"/>
                </a:lnTo>
                <a:lnTo>
                  <a:pt x="38100" y="85725"/>
                </a:lnTo>
              </a:path>
            </a:pathLst>
          </a:custGeom>
          <a:solidFill xmlns:a="http://schemas.openxmlformats.org/drawingml/2006/main">
            <a:srgbClr val="596779"/>
          </a:solidFill>
          <a:ln xmlns:a="http://schemas.openxmlformats.org/drawingml/2006/main" w="0">
            <a:solidFill>
              <a:srgbClr val="596779"/>
            </a:solidFill>
          </a:ln>
        </p:spPr>
      </p:sp>
      <p:sp>
        <p:nvSpPr>
          <p:cNvPr id="92" name="box-92">
            <a:extLst xmlns:a="http://schemas.openxmlformats.org/drawingml/2006/main">
              <a:ext uri="{FF2B5EF4-FFF2-40B4-BE49-F238E27FC236}">
                <a16:creationId xmlns:a16="http://schemas.microsoft.com/office/drawing/2014/main" id="{96FB6DCF-9C3D-4412-8445-964B1C34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20425"/>
            <a:ext cx="1047750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12383">
            <a:solidFill>
              <a:srgbClr val="B9C5D0"/>
            </a:solidFill>
          </a:ln>
        </p:spPr>
      </p:sp>
      <p:sp>
        <p:nvSpPr>
          <p:cNvPr id="93" name="text-93">
            <a:extLst xmlns:a="http://schemas.openxmlformats.org/drawingml/2006/main">
              <a:ext uri="{FF2B5EF4-FFF2-40B4-BE49-F238E27FC236}">
                <a16:creationId xmlns:a16="http://schemas.microsoft.com/office/drawing/2014/main" id="{B4A7B2FD-41F2-4CC1-A837-FD74B95D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115675"/>
            <a:ext cx="1762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统一验证</a:t>
            </a:r>
          </a:p>
        </p:txBody>
      </p:sp>
      <p:sp>
        <p:nvSpPr>
          <p:cNvPr id="94" name="box-94">
            <a:extLst xmlns:a="http://schemas.openxmlformats.org/drawingml/2006/main">
              <a:ext uri="{FF2B5EF4-FFF2-40B4-BE49-F238E27FC236}">
                <a16:creationId xmlns:a16="http://schemas.microsoft.com/office/drawing/2014/main" id="{AC4F59B1-6ACC-4769-91F2-7FA0E781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12395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5D0"/>
            </a:solidFill>
          </a:ln>
        </p:spPr>
      </p:sp>
      <p:sp>
        <p:nvSpPr>
          <p:cNvPr id="95" name="text-95">
            <a:extLst xmlns:a="http://schemas.openxmlformats.org/drawingml/2006/main">
              <a:ext uri="{FF2B5EF4-FFF2-40B4-BE49-F238E27FC236}">
                <a16:creationId xmlns:a16="http://schemas.microsoft.com/office/drawing/2014/main" id="{0AF40BBC-F2E6-4BBC-84E5-6AC76925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1268075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合法性检查</a:t>
            </a:r>
          </a:p>
        </p:txBody>
      </p:sp>
      <p:sp>
        <p:nvSpPr>
          <p:cNvPr id="96" name="box-96">
            <a:extLst xmlns:a="http://schemas.openxmlformats.org/drawingml/2006/main">
              <a:ext uri="{FF2B5EF4-FFF2-40B4-BE49-F238E27FC236}">
                <a16:creationId xmlns:a16="http://schemas.microsoft.com/office/drawing/2014/main" id="{D43310D2-002E-490B-A3B6-8C358C45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12395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5D0"/>
            </a:solidFill>
          </a:ln>
        </p:spPr>
      </p:sp>
      <p:sp>
        <p:nvSpPr>
          <p:cNvPr id="97" name="text-97">
            <a:extLst xmlns:a="http://schemas.openxmlformats.org/drawingml/2006/main">
              <a:ext uri="{FF2B5EF4-FFF2-40B4-BE49-F238E27FC236}">
                <a16:creationId xmlns:a16="http://schemas.microsoft.com/office/drawing/2014/main" id="{B373B00D-5D19-44B3-BD8F-8F527812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1268075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100图全量对照</a:t>
            </a:r>
          </a:p>
        </p:txBody>
      </p:sp>
      <p:sp>
        <p:nvSpPr>
          <p:cNvPr id="98" name="box-98">
            <a:extLst xmlns:a="http://schemas.openxmlformats.org/drawingml/2006/main">
              <a:ext uri="{FF2B5EF4-FFF2-40B4-BE49-F238E27FC236}">
                <a16:creationId xmlns:a16="http://schemas.microsoft.com/office/drawing/2014/main" id="{822B9402-D10A-493F-99D7-DFA84196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123950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5D0"/>
            </a:solidFill>
          </a:ln>
        </p:spPr>
      </p:sp>
      <p:sp>
        <p:nvSpPr>
          <p:cNvPr id="99" name="text-99">
            <a:extLst xmlns:a="http://schemas.openxmlformats.org/drawingml/2006/main">
              <a:ext uri="{FF2B5EF4-FFF2-40B4-BE49-F238E27FC236}">
                <a16:creationId xmlns:a16="http://schemas.microsoft.com/office/drawing/2014/main" id="{3FEB56A0-D342-49A5-A42E-3D78FD2E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1268075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性能与成本分析</a:t>
            </a:r>
          </a:p>
        </p:txBody>
      </p:sp>
      <p:sp>
        <p:nvSpPr>
          <p:cNvPr id="100" name="path-100">
            <a:extLst xmlns:a="http://schemas.openxmlformats.org/drawingml/2006/main">
              <a:ext uri="{FF2B5EF4-FFF2-40B4-BE49-F238E27FC236}">
                <a16:creationId xmlns:a16="http://schemas.microsoft.com/office/drawing/2014/main" id="{BEBCEF6B-70E8-4A18-9DBD-3DFA2D20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1515725"/>
            <a:ext cx="381000" cy="9525"/>
          </a:xfrm>
          <a:custGeom xmlns:a="http://schemas.openxmlformats.org/drawingml/2006/main"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596779"/>
            </a:solidFill>
          </a:ln>
        </p:spPr>
      </p:sp>
      <p:sp>
        <p:nvSpPr>
          <p:cNvPr id="101" name="path-101">
            <a:extLst xmlns:a="http://schemas.openxmlformats.org/drawingml/2006/main">
              <a:ext uri="{FF2B5EF4-FFF2-40B4-BE49-F238E27FC236}">
                <a16:creationId xmlns:a16="http://schemas.microsoft.com/office/drawing/2014/main" id="{82E98F57-366E-49AF-A127-B1F69670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1477625"/>
            <a:ext cx="85725" cy="76200"/>
          </a:xfrm>
          <a:custGeom xmlns:a="http://schemas.openxmlformats.org/drawingml/2006/main"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lnTo>
                  <a:pt x="85725" y="38100"/>
                </a:lnTo>
              </a:path>
            </a:pathLst>
          </a:custGeom>
          <a:solidFill xmlns:a="http://schemas.openxmlformats.org/drawingml/2006/main">
            <a:srgbClr val="596779"/>
          </a:solidFill>
          <a:ln xmlns:a="http://schemas.openxmlformats.org/drawingml/2006/main" w="0">
            <a:solidFill>
              <a:srgbClr val="596779"/>
            </a:solidFill>
          </a:ln>
        </p:spPr>
      </p:sp>
      <p:sp>
        <p:nvSpPr>
          <p:cNvPr id="102" name="path-102">
            <a:extLst xmlns:a="http://schemas.openxmlformats.org/drawingml/2006/main">
              <a:ext uri="{FF2B5EF4-FFF2-40B4-BE49-F238E27FC236}">
                <a16:creationId xmlns:a16="http://schemas.microsoft.com/office/drawing/2014/main" id="{6BEB4772-ADC1-4F2F-B1ED-84AFE311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1515725"/>
            <a:ext cx="381000" cy="9525"/>
          </a:xfrm>
          <a:custGeom xmlns:a="http://schemas.openxmlformats.org/drawingml/2006/main"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596779"/>
            </a:solidFill>
          </a:ln>
        </p:spPr>
      </p:sp>
      <p:sp>
        <p:nvSpPr>
          <p:cNvPr id="103" name="path-103">
            <a:extLst xmlns:a="http://schemas.openxmlformats.org/drawingml/2006/main">
              <a:ext uri="{FF2B5EF4-FFF2-40B4-BE49-F238E27FC236}">
                <a16:creationId xmlns:a16="http://schemas.microsoft.com/office/drawing/2014/main" id="{9286E9E8-4BF1-4F4D-A024-CA6EF9D9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1477625"/>
            <a:ext cx="85725" cy="76200"/>
          </a:xfrm>
          <a:custGeom xmlns:a="http://schemas.openxmlformats.org/drawingml/2006/main"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lnTo>
                  <a:pt x="85725" y="38100"/>
                </a:lnTo>
              </a:path>
            </a:pathLst>
          </a:custGeom>
          <a:solidFill xmlns:a="http://schemas.openxmlformats.org/drawingml/2006/main">
            <a:srgbClr val="596779"/>
          </a:solidFill>
          <a:ln xmlns:a="http://schemas.openxmlformats.org/drawingml/2006/main" w="0">
            <a:solidFill>
              <a:srgbClr val="596779"/>
            </a:solidFill>
          </a:ln>
        </p:spPr>
      </p:sp>
      <p:sp>
        <p:nvSpPr>
          <p:cNvPr id="104" name="text-104">
            <a:extLst xmlns:a="http://schemas.openxmlformats.org/drawingml/2006/main">
              <a:ext uri="{FF2B5EF4-FFF2-40B4-BE49-F238E27FC236}">
                <a16:creationId xmlns:a16="http://schemas.microsoft.com/office/drawing/2014/main" id="{0ED4E465-48A4-4751-AF5B-73CC223E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110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图 1  总体技术路线</a:t>
            </a:r>
          </a:p>
        </p:txBody>
      </p:sp>
    </p:spTree>
    <p:extLst>
      <p:ext uri="{BB962C8B-B14F-4D97-AF65-F5344CB8AC3E}">
        <p14:creationId xmlns:p14="http://schemas.microsoft.com/office/powerpoint/2010/main" val="18753622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2026-09-26T09:47:13.0430000Z</dcterms:created>
  <dcterms:modified xsi:type="dcterms:W3CDTF">2026-09-26T09:47:13.0430000Z</dcterms:modified>
</coreProperties>
</file>