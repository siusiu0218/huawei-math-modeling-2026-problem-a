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2ce8ac73ec45fd" /><Relationship Type="http://schemas.openxmlformats.org/officeDocument/2006/relationships/extended-properties" Target="/docProps/app.xml" Id="R3b119738b0d641cf" /><Relationship Type="http://schemas.openxmlformats.org/officeDocument/2006/relationships/officeDocument" Target="/ppt/presentation.xml" Id="Rd116d24080864f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5b870910d84508"/>
  </p:sldMasterIdLst>
  <p:notesMasterIdLst>
    <p:notesMasterId xmlns:r="http://schemas.openxmlformats.org/officeDocument/2006/relationships" r:id="R7eff791fa1834d15"/>
  </p:notesMasterIdLst>
  <p:sldIdLst>
    <p:sldId xmlns:r="http://schemas.openxmlformats.org/officeDocument/2006/relationships" id="256" r:id="R3d3e7d764a6d4207"/>
  </p:sldIdLst>
  <p:sldSz cx="11430000" cy="15811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896c33815e4294" /><Relationship Type="http://schemas.openxmlformats.org/officeDocument/2006/relationships/slideMaster" Target="/ppt/slideMasters/slideMaster1.xml" Id="R8f5b870910d84508" /><Relationship Type="http://schemas.openxmlformats.org/officeDocument/2006/relationships/notesMaster" Target="/ppt/notesMasters/notesMaster1.xml" Id="R7eff791fa1834d15" /><Relationship Type="http://schemas.openxmlformats.org/officeDocument/2006/relationships/presProps" Target="/ppt/presProps.xml" Id="R307de58c868f46e9" /><Relationship Type="http://schemas.openxmlformats.org/officeDocument/2006/relationships/tableStyles" Target="/ppt/tableStyles.xml" Id="Red94cb2696604c3a" /><Relationship Type="http://schemas.openxmlformats.org/officeDocument/2006/relationships/slide" Target="/ppt/slides/slide1.xml" Id="R3d3e7d764a6d42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648a5421fa44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cb4594dbaf4ce9" /><Relationship Type="http://schemas.openxmlformats.org/officeDocument/2006/relationships/notesMaster" Target="/ppt/notesMasters/notesMaster1.xml" Id="Rf89bf174c8d349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内容依据（2026-09-26）：第一问 src/portfolio_scheduler.py、baseline.py、region_scheduler.py，正式方案v009；第二问 src/scene_b_active_cores.py、scene_b_paired_order.py、scene_b_adaptive.py，正式方案v011；第三问 src/scene_b_window_components.py及outputs/10_problem3/v004_full_20260926/REPORT.md，正式方案v004。第三问窗口法改编来源及MIT许可见scene_b_window_components.LICENSE，不宣称该方法原创。第一问局部试验未纳入正式主线。各问结果分别验证，不混合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55cbe41ec948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abc31657a8468a" /><Relationship Type="http://schemas.openxmlformats.org/officeDocument/2006/relationships/slideLayout" Target="/ppt/slideLayouts/slideLayout1.xml" Id="Rfc8e9d97fde044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c8e9d97fde044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bdf5bce7e4e28" /><Relationship Type="http://schemas.openxmlformats.org/officeDocument/2006/relationships/notesSlide" Target="/ppt/notesSlides/notesSlide1.xml" Id="Rb38bba592fbd4c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text-1">
            <a:extLst xmlns:a="http://schemas.openxmlformats.org/drawingml/2006/main">
              <a:ext uri="{FF2B5EF4-FFF2-40B4-BE49-F238E27FC236}">
                <a16:creationId xmlns:a16="http://schemas.microsoft.com/office/drawing/2014/main" id="{0A6EA032-25F7-4BC0-AD1F-5C64864BA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7175"/>
            <a:ext cx="10477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NPU计算图划分与多核调度优化技术路线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74760B1-E8A1-4004-89B5-D7BB82B1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001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rPr>
              <a:t>面向三种存储场景的子图划分、核间分配与执行调度</a:t>
            </a:r>
          </a:p>
        </p:txBody>
      </p:sp>
      <p:sp>
        <p:nvSpPr>
          <p:cNvPr id="3" name="box-3">
            <a:extLst xmlns:a="http://schemas.openxmlformats.org/drawingml/2006/main">
              <a:ext uri="{FF2B5EF4-FFF2-40B4-BE49-F238E27FC236}">
                <a16:creationId xmlns:a16="http://schemas.microsoft.com/office/drawing/2014/main" id="{2A9AB0D9-853D-4CF6-AC4F-7E5895FB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257300"/>
            <a:ext cx="5048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B9C5D0"/>
            </a:solidFill>
          </a:ln>
        </p:spPr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99D49659-F6EF-476A-BD7C-78088B5D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285875"/>
            <a:ext cx="49149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计算图输入</a:t>
            </a:r>
          </a:p>
          <a:p xmlns:a="http://schemas.openxmlformats.org/drawingml/2006/main">
            <a:pPr algn="ctr">
              <a:def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算子依赖 · 计算周期 · 张量大小 · 存储位置</a:t>
            </a:r>
          </a:p>
        </p:txBody>
      </p:sp>
      <p:sp>
        <p:nvSpPr>
          <p:cNvPr id="5" name="box-5">
            <a:extLst xmlns:a="http://schemas.openxmlformats.org/drawingml/2006/main">
              <a:ext uri="{FF2B5EF4-FFF2-40B4-BE49-F238E27FC236}">
                <a16:creationId xmlns:a16="http://schemas.microsoft.com/office/drawing/2014/main" id="{859C22C1-684E-40D7-BC20-A1A76061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257300"/>
            <a:ext cx="5048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B9C5D0"/>
            </a:solidFill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ED27303D-8133-4991-AB60-420E57BD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285875"/>
            <a:ext cx="49149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硬件与场景约束</a:t>
            </a:r>
          </a:p>
          <a:p xmlns:a="http://schemas.openxmlformats.org/drawingml/2006/main">
            <a:pPr algn="ctr">
              <a:def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核数 · L1/UB容量 · DDR带宽 · 同步开销</a:t>
            </a:r>
          </a:p>
        </p:txBody>
      </p:sp>
      <p:sp>
        <p:nvSpPr>
          <p:cNvPr id="7" name="path-7">
            <a:extLst xmlns:a="http://schemas.openxmlformats.org/drawingml/2006/main">
              <a:ext uri="{FF2B5EF4-FFF2-40B4-BE49-F238E27FC236}">
                <a16:creationId xmlns:a16="http://schemas.microsoft.com/office/drawing/2014/main" id="{C0DBD671-9A4C-4A83-BD86-7A5E31687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066925"/>
            <a:ext cx="9525" cy="219075"/>
          </a:xfrm>
          <a:custGeom xmlns:a="http://schemas.openxmlformats.org/drawingml/2006/main"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596779"/>
            </a:solidFill>
          </a:ln>
        </p:spPr>
      </p:sp>
      <p:sp>
        <p:nvSpPr>
          <p:cNvPr id="8" name="path-8">
            <a:extLst xmlns:a="http://schemas.openxmlformats.org/drawingml/2006/main">
              <a:ext uri="{FF2B5EF4-FFF2-40B4-BE49-F238E27FC236}">
                <a16:creationId xmlns:a16="http://schemas.microsoft.com/office/drawing/2014/main" id="{94943F79-04AF-4A73-90C6-78F2FDABA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2200275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85725"/>
                </a:moveTo>
                <a:lnTo>
                  <a:pt x="76200" y="0"/>
                </a:lnTo>
                <a:lnTo>
                  <a:pt x="0" y="0"/>
                </a:lnTo>
                <a:lnTo>
                  <a:pt x="38100" y="85725"/>
                </a:lnTo>
              </a:path>
            </a:pathLst>
          </a:custGeom>
          <a:solidFill xmlns:a="http://schemas.openxmlformats.org/drawingml/2006/main">
            <a:srgbClr val="596779"/>
          </a:solidFill>
          <a:ln xmlns:a="http://schemas.openxmlformats.org/drawingml/2006/main" w="0">
            <a:solidFill>
              <a:srgbClr val="596779"/>
            </a:solidFill>
          </a:ln>
        </p:spPr>
      </p:sp>
      <p:sp>
        <p:nvSpPr>
          <p:cNvPr id="9" name="path-9">
            <a:extLst xmlns:a="http://schemas.openxmlformats.org/drawingml/2006/main">
              <a:ext uri="{FF2B5EF4-FFF2-40B4-BE49-F238E27FC236}">
                <a16:creationId xmlns:a16="http://schemas.microsoft.com/office/drawing/2014/main" id="{A669AC69-834C-487D-B449-3585C787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066925"/>
            <a:ext cx="9525" cy="219075"/>
          </a:xfrm>
          <a:custGeom xmlns:a="http://schemas.openxmlformats.org/drawingml/2006/main">
            <a:pathLst>
              <a:path w="9525" h="219075">
                <a:moveTo>
                  <a:pt x="0" y="0"/>
                </a:moveTo>
                <a:lnTo>
                  <a:pt x="0" y="219075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596779"/>
            </a:solidFill>
          </a:ln>
        </p:spPr>
      </p:sp>
      <p:sp>
        <p:nvSpPr>
          <p:cNvPr id="10" name="path-10">
            <a:extLst xmlns:a="http://schemas.openxmlformats.org/drawingml/2006/main">
              <a:ext uri="{FF2B5EF4-FFF2-40B4-BE49-F238E27FC236}">
                <a16:creationId xmlns:a16="http://schemas.microsoft.com/office/drawing/2014/main" id="{92C4A3B1-C1BA-4E16-AEE7-945EB3160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00275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85725"/>
                </a:moveTo>
                <a:lnTo>
                  <a:pt x="76200" y="0"/>
                </a:lnTo>
                <a:lnTo>
                  <a:pt x="0" y="0"/>
                </a:lnTo>
                <a:lnTo>
                  <a:pt x="38100" y="85725"/>
                </a:lnTo>
              </a:path>
            </a:pathLst>
          </a:custGeom>
          <a:solidFill xmlns:a="http://schemas.openxmlformats.org/drawingml/2006/main">
            <a:srgbClr val="596779"/>
          </a:solidFill>
          <a:ln xmlns:a="http://schemas.openxmlformats.org/drawingml/2006/main" w="0">
            <a:solidFill>
              <a:srgbClr val="596779"/>
            </a:solidFill>
          </a:ln>
        </p:spPr>
      </p:sp>
      <p:sp>
        <p:nvSpPr>
          <p:cNvPr id="11" name="box-11">
            <a:extLst xmlns:a="http://schemas.openxmlformats.org/drawingml/2006/main">
              <a:ext uri="{FF2B5EF4-FFF2-40B4-BE49-F238E27FC236}">
                <a16:creationId xmlns:a16="http://schemas.microsoft.com/office/drawing/2014/main" id="{16CC16BD-6057-4259-87D8-020958DF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86000"/>
            <a:ext cx="10477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E55"/>
          </a:solidFill>
          <a:ln xmlns:a="http://schemas.openxmlformats.org/drawingml/2006/main" w="0">
            <a:noFill/>
          </a:ln>
        </p:spPr>
      </p:sp>
      <p:sp>
        <p:nvSpPr>
          <p:cNvPr id="12" name="text-12">
            <a:extLst xmlns:a="http://schemas.openxmlformats.org/drawingml/2006/main">
              <a:ext uri="{FF2B5EF4-FFF2-40B4-BE49-F238E27FC236}">
                <a16:creationId xmlns:a16="http://schemas.microsoft.com/office/drawing/2014/main" id="{34A24F8D-1380-40C9-84E2-5688F549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共同决策模型</a:t>
            </a:r>
          </a:p>
        </p:txBody>
      </p:sp>
      <p:sp>
        <p:nvSpPr>
          <p:cNvPr id="13" name="text-13">
            <a:extLst xmlns:a="http://schemas.openxmlformats.org/drawingml/2006/main">
              <a:ext uri="{FF2B5EF4-FFF2-40B4-BE49-F238E27FC236}">
                <a16:creationId xmlns:a16="http://schemas.microsoft.com/office/drawing/2014/main" id="{835D6FE4-0B7A-4B3C-9DEA-59BA5D20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71725"/>
            <a:ext cx="8096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子图如何划分     算子分配到哪一核     各核按何顺序执行</a:t>
            </a:r>
          </a:p>
        </p:txBody>
      </p:sp>
      <p:sp>
        <p:nvSpPr>
          <p:cNvPr id="14" name="text-14">
            <a:extLst xmlns:a="http://schemas.openxmlformats.org/drawingml/2006/main">
              <a:ext uri="{FF2B5EF4-FFF2-40B4-BE49-F238E27FC236}">
                <a16:creationId xmlns:a16="http://schemas.microsoft.com/office/drawing/2014/main" id="{5C87CA0E-3F92-4F31-8111-4FF4411A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33675"/>
            <a:ext cx="8096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E0EAF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E0EAF2"/>
                </a:solidFill>
                <a:latin typeface="Microsoft YaHei"/>
                <a:ea typeface="Microsoft YaHei"/>
                <a:cs typeface="Microsoft YaHei"/>
              </a:rPr>
              <a:t>目标：最小化总完成时间 Makespan    约束：依赖、容量与执行资源</a:t>
            </a:r>
          </a:p>
        </p:txBody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560B47E4-DDEF-4C25-8ABA-A8FDA6BF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81350"/>
            <a:ext cx="9525" cy="314325"/>
          </a:xfrm>
          <a:custGeom xmlns:a="http://schemas.openxmlformats.org/drawingml/2006/main">
            <a:pathLst>
              <a:path w="9525" h="314325">
                <a:moveTo>
                  <a:pt x="0" y="0"/>
                </a:moveTo>
                <a:lnTo>
                  <a:pt x="0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596779"/>
            </a:solidFill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670E965C-EFC7-4D80-AB80-A7A9A0B4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09950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85725"/>
                </a:moveTo>
                <a:lnTo>
                  <a:pt x="76200" y="0"/>
                </a:lnTo>
                <a:lnTo>
                  <a:pt x="0" y="0"/>
                </a:lnTo>
                <a:lnTo>
                  <a:pt x="38100" y="85725"/>
                </a:lnTo>
              </a:path>
            </a:pathLst>
          </a:custGeom>
          <a:solidFill xmlns:a="http://schemas.openxmlformats.org/drawingml/2006/main">
            <a:srgbClr val="596779"/>
          </a:solidFill>
          <a:ln xmlns:a="http://schemas.openxmlformats.org/drawingml/2006/main" w="0">
            <a:solidFill>
              <a:srgbClr val="596779"/>
            </a:solidFill>
          </a:ln>
        </p:spPr>
      </p:sp>
      <p:sp>
        <p:nvSpPr>
          <p:cNvPr id="17" name="box-17">
            <a:extLst xmlns:a="http://schemas.openxmlformats.org/drawingml/2006/main">
              <a:ext uri="{FF2B5EF4-FFF2-40B4-BE49-F238E27FC236}">
                <a16:creationId xmlns:a16="http://schemas.microsoft.com/office/drawing/2014/main" id="{5DA66DAD-974A-4A06-B777-6ACCB25B8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95675"/>
            <a:ext cx="104775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5648F"/>
            </a:solidFill>
          </a:ln>
        </p:spPr>
      </p:sp>
      <p:sp>
        <p:nvSpPr>
          <p:cNvPr id="18" name="box-18">
            <a:extLst xmlns:a="http://schemas.openxmlformats.org/drawingml/2006/main">
              <a:ext uri="{FF2B5EF4-FFF2-40B4-BE49-F238E27FC236}">
                <a16:creationId xmlns:a16="http://schemas.microsoft.com/office/drawing/2014/main" id="{8AD415E4-987F-418A-AD99-4E40454E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95675"/>
            <a:ext cx="1047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A"/>
          </a:solidFill>
          <a:ln xmlns:a="http://schemas.openxmlformats.org/drawingml/2006/main" w="0">
            <a:noFill/>
          </a:ln>
        </p:spPr>
      </p:sp>
      <p:sp>
        <p:nvSpPr>
          <p:cNvPr id="19" name="box-19">
            <a:extLst xmlns:a="http://schemas.openxmlformats.org/drawingml/2006/main">
              <a:ext uri="{FF2B5EF4-FFF2-40B4-BE49-F238E27FC236}">
                <a16:creationId xmlns:a16="http://schemas.microsoft.com/office/drawing/2014/main" id="{604F1981-E70B-47BA-B3E0-5C3742D8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495675"/>
            <a:ext cx="666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48F"/>
          </a:solidFill>
          <a:ln xmlns:a="http://schemas.openxmlformats.org/drawingml/2006/main" w="0">
            <a:noFill/>
          </a:ln>
        </p:spPr>
      </p:sp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33684EFD-5E06-4687-B3AF-870E7832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564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35648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text-21">
            <a:extLst xmlns:a="http://schemas.openxmlformats.org/drawingml/2006/main">
              <a:ext uri="{FF2B5EF4-FFF2-40B4-BE49-F238E27FC236}">
                <a16:creationId xmlns:a16="http://schemas.microsoft.com/office/drawing/2014/main" id="{02D31458-89EA-43F4-BDC0-E2208A6F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54330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3564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35648F"/>
                </a:solidFill>
                <a:latin typeface="Microsoft YaHei"/>
                <a:ea typeface="Microsoft YaHei"/>
                <a:cs typeface="Microsoft YaHei"/>
              </a:rPr>
              <a:t>问题一：子图边界经DDR搬运的调度优化</a:t>
            </a:r>
          </a:p>
        </p:txBody>
      </p:sp>
      <p:sp>
        <p:nvSpPr>
          <p:cNvPr id="22" name="text-22">
            <a:extLst xmlns:a="http://schemas.openxmlformats.org/drawingml/2006/main">
              <a:ext uri="{FF2B5EF4-FFF2-40B4-BE49-F238E27FC236}">
                <a16:creationId xmlns:a16="http://schemas.microsoft.com/office/drawing/2014/main" id="{BEF0880F-AF27-4B97-8879-D4C1158F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195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rPr>
              <a:t>场景A：子图作为任务执行，权衡并行计算收益与边界搬运开销</a:t>
            </a:r>
          </a:p>
        </p:txBody>
      </p:sp>
      <p:sp>
        <p:nvSpPr>
          <p:cNvPr id="23" name="box-23">
            <a:extLst xmlns:a="http://schemas.openxmlformats.org/drawingml/2006/main">
              <a:ext uri="{FF2B5EF4-FFF2-40B4-BE49-F238E27FC236}">
                <a16:creationId xmlns:a16="http://schemas.microsoft.com/office/drawing/2014/main" id="{03704F2F-2D6C-452A-A92E-795C5352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38650"/>
            <a:ext cx="1952625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A"/>
          </a:solidFill>
          <a:ln xmlns:a="http://schemas.openxmlformats.org/drawingml/2006/main" w="12383">
            <a:solidFill>
              <a:srgbClr val="35648F"/>
            </a:solidFill>
          </a:ln>
        </p:spPr>
      </p:sp>
      <p:sp>
        <p:nvSpPr>
          <p:cNvPr id="24" name="text-24">
            <a:extLst xmlns:a="http://schemas.openxmlformats.org/drawingml/2006/main">
              <a:ext uri="{FF2B5EF4-FFF2-40B4-BE49-F238E27FC236}">
                <a16:creationId xmlns:a16="http://schemas.microsoft.com/office/drawing/2014/main" id="{8FD573D2-24FA-4173-BB52-CC56777C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67225"/>
            <a:ext cx="18192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图结构分析</a:t>
            </a:r>
          </a:p>
          <a:p xmlns:a="http://schemas.openxmlformats.org/drawingml/2006/main">
            <a:pPr algn="ctr">
              <a:def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拓扑依赖</a:t>
            </a:r>
          </a:p>
          <a:p xmlns:a="http://schemas.openxmlformats.org/drawingml/2006/main">
            <a:pPr algn="ctr">
              <a:def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链与分支汇合</a:t>
            </a:r>
          </a:p>
          <a:p xmlns:a="http://schemas.openxmlformats.org/drawingml/2006/main">
            <a:pPr algn="ctr">
              <a:def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独立连通分量</a:t>
            </a:r>
          </a:p>
        </p:txBody>
      </p:sp>
      <p:sp>
        <p:nvSpPr>
          <p:cNvPr id="25" name="path-25">
            <a:extLst xmlns:a="http://schemas.openxmlformats.org/drawingml/2006/main">
              <a:ext uri="{FF2B5EF4-FFF2-40B4-BE49-F238E27FC236}">
                <a16:creationId xmlns:a16="http://schemas.microsoft.com/office/drawing/2014/main" id="{A289E6D3-0AE6-437A-AC79-F62B3BB5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14875"/>
            <a:ext cx="333375" cy="371475"/>
          </a:xfrm>
          <a:custGeom xmlns:a="http://schemas.openxmlformats.org/drawingml/2006/main">
            <a:pathLst>
              <a:path w="333375" h="371475">
                <a:moveTo>
                  <a:pt x="0" y="371475"/>
                </a:moveTo>
                <a:lnTo>
                  <a:pt x="161925" y="371475"/>
                </a:lnTo>
                <a:lnTo>
                  <a:pt x="161925" y="0"/>
                </a:ln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48F"/>
            </a:solidFill>
          </a:ln>
        </p:spPr>
      </p:sp>
      <p:sp>
        <p:nvSpPr>
          <p:cNvPr id="26" name="path-26">
            <a:extLst xmlns:a="http://schemas.openxmlformats.org/drawingml/2006/main">
              <a:ext uri="{FF2B5EF4-FFF2-40B4-BE49-F238E27FC236}">
                <a16:creationId xmlns:a16="http://schemas.microsoft.com/office/drawing/2014/main" id="{454342E0-758B-4869-A8E8-AA959A72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676775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35648F"/>
          </a:solidFill>
          <a:ln xmlns:a="http://schemas.openxmlformats.org/drawingml/2006/main" w="0">
            <a:solidFill>
              <a:srgbClr val="35648F"/>
            </a:solidFill>
          </a:ln>
        </p:spPr>
      </p:sp>
      <p:sp>
        <p:nvSpPr>
          <p:cNvPr id="27" name="path-27">
            <a:extLst xmlns:a="http://schemas.openxmlformats.org/drawingml/2006/main">
              <a:ext uri="{FF2B5EF4-FFF2-40B4-BE49-F238E27FC236}">
                <a16:creationId xmlns:a16="http://schemas.microsoft.com/office/drawing/2014/main" id="{B97E9912-A7C8-4DB8-AB83-774BCDB1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086350"/>
            <a:ext cx="171450" cy="371475"/>
          </a:xfrm>
          <a:custGeom xmlns:a="http://schemas.openxmlformats.org/drawingml/2006/main">
            <a:pathLst>
              <a:path w="171450" h="371475">
                <a:moveTo>
                  <a:pt x="0" y="0"/>
                </a:moveTo>
                <a:lnTo>
                  <a:pt x="0" y="371475"/>
                </a:lnTo>
                <a:lnTo>
                  <a:pt x="171450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48F"/>
            </a:solidFill>
          </a:ln>
        </p:spPr>
      </p:sp>
      <p:sp>
        <p:nvSpPr>
          <p:cNvPr id="28" name="path-28">
            <a:extLst xmlns:a="http://schemas.openxmlformats.org/drawingml/2006/main">
              <a:ext uri="{FF2B5EF4-FFF2-40B4-BE49-F238E27FC236}">
                <a16:creationId xmlns:a16="http://schemas.microsoft.com/office/drawing/2014/main" id="{0430DED7-30AA-4CBF-8910-C7E301793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419725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35648F"/>
          </a:solidFill>
          <a:ln xmlns:a="http://schemas.openxmlformats.org/drawingml/2006/main" w="0">
            <a:solidFill>
              <a:srgbClr val="35648F"/>
            </a:solidFill>
          </a:ln>
        </p:spPr>
      </p:sp>
      <p:sp>
        <p:nvSpPr>
          <p:cNvPr id="29" name="box-29">
            <a:extLst xmlns:a="http://schemas.openxmlformats.org/drawingml/2006/main">
              <a:ext uri="{FF2B5EF4-FFF2-40B4-BE49-F238E27FC236}">
                <a16:creationId xmlns:a16="http://schemas.microsoft.com/office/drawing/2014/main" id="{E7992E55-725B-450F-95E8-518F5E66A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38650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5648F"/>
            </a:solidFill>
          </a:ln>
        </p:spPr>
      </p:sp>
      <p:sp>
        <p:nvSpPr>
          <p:cNvPr id="30" name="text-30">
            <a:extLst xmlns:a="http://schemas.openxmlformats.org/drawingml/2006/main">
              <a:ext uri="{FF2B5EF4-FFF2-40B4-BE49-F238E27FC236}">
                <a16:creationId xmlns:a16="http://schemas.microsoft.com/office/drawing/2014/main" id="{FCF7F59B-74F6-4D7A-AC64-6DB8B858E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467225"/>
            <a:ext cx="424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基准候选：拓扑分块与最早完成分核</a:t>
            </a:r>
          </a:p>
        </p:txBody>
      </p:sp>
      <p:sp>
        <p:nvSpPr>
          <p:cNvPr id="31" name="box-31">
            <a:extLst xmlns:a="http://schemas.openxmlformats.org/drawingml/2006/main">
              <a:ext uri="{FF2B5EF4-FFF2-40B4-BE49-F238E27FC236}">
                <a16:creationId xmlns:a16="http://schemas.microsoft.com/office/drawing/2014/main" id="{DBEFE936-B282-4980-9BA8-7C82798B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81600"/>
            <a:ext cx="438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35648F"/>
            </a:solidFill>
          </a:ln>
        </p:spPr>
      </p:sp>
      <p:sp>
        <p:nvSpPr>
          <p:cNvPr id="32" name="text-32">
            <a:extLst xmlns:a="http://schemas.openxmlformats.org/drawingml/2006/main">
              <a:ext uri="{FF2B5EF4-FFF2-40B4-BE49-F238E27FC236}">
                <a16:creationId xmlns:a16="http://schemas.microsoft.com/office/drawing/2014/main" id="{149F663B-7AA7-4AA0-9822-2B618FB4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210175"/>
            <a:ext cx="4248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结构候选：链收缩与闭合小区域合并</a:t>
            </a:r>
          </a:p>
        </p:txBody>
      </p:sp>
      <p:sp>
        <p:nvSpPr>
          <p:cNvPr id="33" name="path-33">
            <a:extLst xmlns:a="http://schemas.openxmlformats.org/drawingml/2006/main">
              <a:ext uri="{FF2B5EF4-FFF2-40B4-BE49-F238E27FC236}">
                <a16:creationId xmlns:a16="http://schemas.microsoft.com/office/drawing/2014/main" id="{047FB3D5-E505-499B-9CEF-46DE8DFB2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14875"/>
            <a:ext cx="238125" cy="742950"/>
          </a:xfrm>
          <a:custGeom xmlns:a="http://schemas.openxmlformats.org/drawingml/2006/main">
            <a:pathLst>
              <a:path w="238125" h="742950">
                <a:moveTo>
                  <a:pt x="0" y="0"/>
                </a:moveTo>
                <a:lnTo>
                  <a:pt x="238125" y="0"/>
                </a:lnTo>
                <a:lnTo>
                  <a:pt x="238125" y="742950"/>
                </a:lnTo>
                <a:lnTo>
                  <a:pt x="0" y="74295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35648F"/>
            </a:solidFill>
          </a:ln>
        </p:spPr>
      </p:sp>
      <p:sp>
        <p:nvSpPr>
          <p:cNvPr id="34" name="path-34">
            <a:extLst xmlns:a="http://schemas.openxmlformats.org/drawingml/2006/main">
              <a:ext uri="{FF2B5EF4-FFF2-40B4-BE49-F238E27FC236}">
                <a16:creationId xmlns:a16="http://schemas.microsoft.com/office/drawing/2014/main" id="{824A01FE-C77D-4253-BEB7-0C1A59E2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086350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35648F"/>
            </a:solidFill>
          </a:ln>
        </p:spPr>
      </p:sp>
      <p:sp>
        <p:nvSpPr>
          <p:cNvPr id="35" name="path-35">
            <a:extLst xmlns:a="http://schemas.openxmlformats.org/drawingml/2006/main">
              <a:ext uri="{FF2B5EF4-FFF2-40B4-BE49-F238E27FC236}">
                <a16:creationId xmlns:a16="http://schemas.microsoft.com/office/drawing/2014/main" id="{AA98C139-B7BF-4FBC-A285-3CDE8072E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48250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35648F"/>
          </a:solidFill>
          <a:ln xmlns:a="http://schemas.openxmlformats.org/drawingml/2006/main" w="0">
            <a:solidFill>
              <a:srgbClr val="35648F"/>
            </a:solidFill>
          </a:ln>
        </p:spPr>
      </p:sp>
      <p:sp>
        <p:nvSpPr>
          <p:cNvPr id="36" name="box-36">
            <a:extLst xmlns:a="http://schemas.openxmlformats.org/drawingml/2006/main">
              <a:ext uri="{FF2B5EF4-FFF2-40B4-BE49-F238E27FC236}">
                <a16:creationId xmlns:a16="http://schemas.microsoft.com/office/drawing/2014/main" id="{D0FE2D81-CD07-4D99-95D8-D8987898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438650"/>
            <a:ext cx="2819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A"/>
          </a:solidFill>
          <a:ln xmlns:a="http://schemas.openxmlformats.org/drawingml/2006/main" w="12383">
            <a:solidFill>
              <a:srgbClr val="35648F"/>
            </a:solidFill>
          </a:ln>
        </p:spPr>
      </p:sp>
      <p:sp>
        <p:nvSpPr>
          <p:cNvPr id="37" name="text-37">
            <a:extLst xmlns:a="http://schemas.openxmlformats.org/drawingml/2006/main">
              <a:ext uri="{FF2B5EF4-FFF2-40B4-BE49-F238E27FC236}">
                <a16:creationId xmlns:a16="http://schemas.microsoft.com/office/drawing/2014/main" id="{7250C6C8-8E36-4C3A-8DD6-98D08429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67225"/>
            <a:ext cx="2686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场景A原始评估器</a:t>
            </a:r>
          </a:p>
          <a:p xmlns:a="http://schemas.openxmlformats.org/drawingml/2006/main">
            <a:pPr algn="ctr">
              <a:def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比较两个候选Makespan</a:t>
            </a:r>
          </a:p>
          <a:p xmlns:a="http://schemas.openxmlformats.org/drawingml/2006/main">
            <a:pPr algn="ctr">
              <a:def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保留耗时较小的方案</a:t>
            </a:r>
          </a:p>
        </p:txBody>
      </p:sp>
      <p:sp>
        <p:nvSpPr>
          <p:cNvPr id="38" name="text-38">
            <a:extLst xmlns:a="http://schemas.openxmlformats.org/drawingml/2006/main">
              <a:ext uri="{FF2B5EF4-FFF2-40B4-BE49-F238E27FC236}">
                <a16:creationId xmlns:a16="http://schemas.microsoft.com/office/drawing/2014/main" id="{967E9B16-29B3-42A3-B4DC-201E2911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753100"/>
            <a:ext cx="438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rPr>
              <a:t>合并筛选兼顾搬运节约与并行性损失</a:t>
            </a:r>
          </a:p>
        </p:txBody>
      </p:sp>
      <p:sp>
        <p:nvSpPr>
          <p:cNvPr id="39" name="path-39">
            <a:extLst xmlns:a="http://schemas.openxmlformats.org/drawingml/2006/main">
              <a:ext uri="{FF2B5EF4-FFF2-40B4-BE49-F238E27FC236}">
                <a16:creationId xmlns:a16="http://schemas.microsoft.com/office/drawing/2014/main" id="{C9E84E50-52D8-468A-8762-8A55F433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6067425"/>
            <a:ext cx="9525" cy="457200"/>
          </a:xfrm>
          <a:custGeom xmlns:a="http://schemas.openxmlformats.org/drawingml/2006/main">
            <a:pathLst>
              <a:path w="9525" h="457200">
                <a:moveTo>
                  <a:pt x="0" y="0"/>
                </a:moveTo>
                <a:lnTo>
                  <a:pt x="0" y="45720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35648F"/>
            </a:solidFill>
          </a:ln>
        </p:spPr>
      </p:sp>
      <p:sp>
        <p:nvSpPr>
          <p:cNvPr id="40" name="path-40">
            <a:extLst xmlns:a="http://schemas.openxmlformats.org/drawingml/2006/main">
              <a:ext uri="{FF2B5EF4-FFF2-40B4-BE49-F238E27FC236}">
                <a16:creationId xmlns:a16="http://schemas.microsoft.com/office/drawing/2014/main" id="{735107BC-3FD3-4FEA-93FD-943543A0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6438900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85725"/>
                </a:moveTo>
                <a:lnTo>
                  <a:pt x="76200" y="0"/>
                </a:lnTo>
                <a:lnTo>
                  <a:pt x="0" y="0"/>
                </a:lnTo>
                <a:lnTo>
                  <a:pt x="38100" y="85725"/>
                </a:lnTo>
              </a:path>
            </a:pathLst>
          </a:custGeom>
          <a:solidFill xmlns:a="http://schemas.openxmlformats.org/drawingml/2006/main">
            <a:srgbClr val="35648F"/>
          </a:solidFill>
          <a:ln xmlns:a="http://schemas.openxmlformats.org/drawingml/2006/main" w="0">
            <a:solidFill>
              <a:srgbClr val="35648F"/>
            </a:solidFill>
          </a:ln>
        </p:spPr>
      </p:sp>
      <p:sp>
        <p:nvSpPr>
          <p:cNvPr id="41" name="box-41">
            <a:extLst xmlns:a="http://schemas.openxmlformats.org/drawingml/2006/main">
              <a:ext uri="{FF2B5EF4-FFF2-40B4-BE49-F238E27FC236}">
                <a16:creationId xmlns:a16="http://schemas.microsoft.com/office/drawing/2014/main" id="{C32A27B4-2C7C-4FF5-9B3F-238D2082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143625"/>
            <a:ext cx="407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2" name="text-42">
            <a:extLst xmlns:a="http://schemas.openxmlformats.org/drawingml/2006/main">
              <a:ext uri="{FF2B5EF4-FFF2-40B4-BE49-F238E27FC236}">
                <a16:creationId xmlns:a16="http://schemas.microsoft.com/office/drawing/2014/main" id="{C3DCE755-17D1-4D52-9BCE-40AAF5B8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143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rPr>
              <a:t>复用图结构分析与候选生成方法</a:t>
            </a:r>
          </a:p>
        </p:txBody>
      </p:sp>
      <p:sp>
        <p:nvSpPr>
          <p:cNvPr id="43" name="box-43">
            <a:extLst xmlns:a="http://schemas.openxmlformats.org/drawingml/2006/main">
              <a:ext uri="{FF2B5EF4-FFF2-40B4-BE49-F238E27FC236}">
                <a16:creationId xmlns:a16="http://schemas.microsoft.com/office/drawing/2014/main" id="{53A75F53-BBE8-45EC-8EF8-B1ED2105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10477500" cy="2695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87B74"/>
            </a:solidFill>
          </a:ln>
        </p:spPr>
      </p:sp>
      <p:sp>
        <p:nvSpPr>
          <p:cNvPr id="44" name="box-44">
            <a:extLst xmlns:a="http://schemas.openxmlformats.org/drawingml/2006/main">
              <a:ext uri="{FF2B5EF4-FFF2-40B4-BE49-F238E27FC236}">
                <a16:creationId xmlns:a16="http://schemas.microsoft.com/office/drawing/2014/main" id="{AC48FBF8-CE60-47D4-BE19-DA408C7D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1047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4"/>
          </a:solidFill>
          <a:ln xmlns:a="http://schemas.openxmlformats.org/drawingml/2006/main" w="0">
            <a:noFill/>
          </a:ln>
        </p:spPr>
      </p:sp>
      <p:sp>
        <p:nvSpPr>
          <p:cNvPr id="45" name="box-45">
            <a:extLst xmlns:a="http://schemas.openxmlformats.org/drawingml/2006/main">
              <a:ext uri="{FF2B5EF4-FFF2-40B4-BE49-F238E27FC236}">
                <a16:creationId xmlns:a16="http://schemas.microsoft.com/office/drawing/2014/main" id="{6C59F950-037D-4F32-87BE-5216C3DC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524625"/>
            <a:ext cx="666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74"/>
          </a:solidFill>
          <a:ln xmlns:a="http://schemas.openxmlformats.org/drawingml/2006/main" w="0">
            <a:noFill/>
          </a:ln>
        </p:spPr>
      </p:sp>
      <p:sp>
        <p:nvSpPr>
          <p:cNvPr id="46" name="text-46">
            <a:extLst xmlns:a="http://schemas.openxmlformats.org/drawingml/2006/main">
              <a:ext uri="{FF2B5EF4-FFF2-40B4-BE49-F238E27FC236}">
                <a16:creationId xmlns:a16="http://schemas.microsoft.com/office/drawing/2014/main" id="{74AEE32A-BE33-4907-A9BB-21EC6B55B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572250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87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87B7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7" name="text-47">
            <a:extLst xmlns:a="http://schemas.openxmlformats.org/drawingml/2006/main">
              <a:ext uri="{FF2B5EF4-FFF2-40B4-BE49-F238E27FC236}">
                <a16:creationId xmlns:a16="http://schemas.microsoft.com/office/drawing/2014/main" id="{378F49DB-F145-4E6F-88E8-EBB2C310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657225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7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87B74"/>
                </a:solidFill>
                <a:latin typeface="Microsoft YaHei"/>
                <a:ea typeface="Microsoft YaHei"/>
                <a:cs typeface="Microsoft YaHei"/>
              </a:rPr>
              <a:t>问题二：同核数据驻留下的分核与调度优化</a:t>
            </a:r>
          </a:p>
        </p:txBody>
      </p:sp>
      <p:sp>
        <p:nvSpPr>
          <p:cNvPr id="48" name="text-48">
            <a:extLst xmlns:a="http://schemas.openxmlformats.org/drawingml/2006/main">
              <a:ext uri="{FF2B5EF4-FFF2-40B4-BE49-F238E27FC236}">
                <a16:creationId xmlns:a16="http://schemas.microsoft.com/office/drawing/2014/main" id="{F59798DD-B6F5-429D-8939-9CF97EBAE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0485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rPr>
              <a:t>场景B：同核数据可驻留L1/UB，跨核传输需要搬运与同步</a:t>
            </a:r>
          </a:p>
        </p:txBody>
      </p:sp>
      <p:sp>
        <p:nvSpPr>
          <p:cNvPr id="49" name="box-49">
            <a:extLst xmlns:a="http://schemas.openxmlformats.org/drawingml/2006/main">
              <a:ext uri="{FF2B5EF4-FFF2-40B4-BE49-F238E27FC236}">
                <a16:creationId xmlns:a16="http://schemas.microsoft.com/office/drawing/2014/main" id="{6B0C2EBD-5ACE-4A67-B406-C35E1225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477125"/>
            <a:ext cx="195262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4"/>
          </a:solidFill>
          <a:ln xmlns:a="http://schemas.openxmlformats.org/drawingml/2006/main" w="12383">
            <a:solidFill>
              <a:srgbClr val="287B74"/>
            </a:solidFill>
          </a:ln>
        </p:spPr>
      </p:sp>
      <p:sp>
        <p:nvSpPr>
          <p:cNvPr id="50" name="text-50">
            <a:extLst xmlns:a="http://schemas.openxmlformats.org/drawingml/2006/main">
              <a:ext uri="{FF2B5EF4-FFF2-40B4-BE49-F238E27FC236}">
                <a16:creationId xmlns:a16="http://schemas.microsoft.com/office/drawing/2014/main" id="{697AB049-B06F-4D27-80AC-2621CB14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505700"/>
            <a:ext cx="1819275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活跃核预算</a:t>
            </a:r>
          </a:p>
          <a:p xmlns:a="http://schemas.openxmlformats.org/drawingml/2006/main">
            <a:pPr algn="ctr">
              <a:def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k = 1, …, N</a:t>
            </a:r>
          </a:p>
          <a:p xmlns:a="http://schemas.openxmlformats.org/drawingml/2006/main">
            <a:pPr algn="ctr">
              <a:def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逐一生成候选</a:t>
            </a:r>
          </a:p>
          <a:p xmlns:a="http://schemas.openxmlformats.org/drawingml/2006/main">
            <a:pPr algn="ctr">
              <a:def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保留单核方案</a:t>
            </a:r>
          </a:p>
        </p:txBody>
      </p:sp>
      <p:sp>
        <p:nvSpPr>
          <p:cNvPr id="51" name="path-51">
            <a:extLst xmlns:a="http://schemas.openxmlformats.org/drawingml/2006/main">
              <a:ext uri="{FF2B5EF4-FFF2-40B4-BE49-F238E27FC236}">
                <a16:creationId xmlns:a16="http://schemas.microsoft.com/office/drawing/2014/main" id="{5338CB62-7FCF-4444-8359-6DA11BBEB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753350"/>
            <a:ext cx="333375" cy="409575"/>
          </a:xfrm>
          <a:custGeom xmlns:a="http://schemas.openxmlformats.org/drawingml/2006/main">
            <a:pathLst>
              <a:path w="333375" h="409575">
                <a:moveTo>
                  <a:pt x="0" y="409575"/>
                </a:moveTo>
                <a:lnTo>
                  <a:pt x="161925" y="409575"/>
                </a:lnTo>
                <a:lnTo>
                  <a:pt x="161925" y="0"/>
                </a:lnTo>
                <a:lnTo>
                  <a:pt x="333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87B74"/>
            </a:solidFill>
          </a:ln>
        </p:spPr>
      </p:sp>
      <p:sp>
        <p:nvSpPr>
          <p:cNvPr id="52" name="path-52">
            <a:extLst xmlns:a="http://schemas.openxmlformats.org/drawingml/2006/main">
              <a:ext uri="{FF2B5EF4-FFF2-40B4-BE49-F238E27FC236}">
                <a16:creationId xmlns:a16="http://schemas.microsoft.com/office/drawing/2014/main" id="{243554FF-589C-43B3-AD1B-D4B9D727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7715250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287B74"/>
          </a:solidFill>
          <a:ln xmlns:a="http://schemas.openxmlformats.org/drawingml/2006/main" w="0">
            <a:solidFill>
              <a:srgbClr val="287B74"/>
            </a:solidFill>
          </a:ln>
        </p:spPr>
      </p:sp>
      <p:sp>
        <p:nvSpPr>
          <p:cNvPr id="53" name="path-53">
            <a:extLst xmlns:a="http://schemas.openxmlformats.org/drawingml/2006/main">
              <a:ext uri="{FF2B5EF4-FFF2-40B4-BE49-F238E27FC236}">
                <a16:creationId xmlns:a16="http://schemas.microsoft.com/office/drawing/2014/main" id="{DD7895B4-B9F3-46B2-975C-0604893F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8162925"/>
            <a:ext cx="171450" cy="381000"/>
          </a:xfrm>
          <a:custGeom xmlns:a="http://schemas.openxmlformats.org/drawingml/2006/main">
            <a:pathLst>
              <a:path w="171450" h="381000">
                <a:moveTo>
                  <a:pt x="0" y="0"/>
                </a:moveTo>
                <a:lnTo>
                  <a:pt x="0" y="381000"/>
                </a:lnTo>
                <a:lnTo>
                  <a:pt x="17145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87B74"/>
            </a:solidFill>
          </a:ln>
        </p:spPr>
      </p:sp>
      <p:sp>
        <p:nvSpPr>
          <p:cNvPr id="54" name="path-54">
            <a:extLst xmlns:a="http://schemas.openxmlformats.org/drawingml/2006/main">
              <a:ext uri="{FF2B5EF4-FFF2-40B4-BE49-F238E27FC236}">
                <a16:creationId xmlns:a16="http://schemas.microsoft.com/office/drawing/2014/main" id="{F7E7C837-CE1D-4552-91A2-9FA72052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8505825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287B74"/>
          </a:solidFill>
          <a:ln xmlns:a="http://schemas.openxmlformats.org/drawingml/2006/main" w="0">
            <a:solidFill>
              <a:srgbClr val="287B74"/>
            </a:solidFill>
          </a:ln>
        </p:spPr>
      </p:sp>
      <p:sp>
        <p:nvSpPr>
          <p:cNvPr id="55" name="box-55">
            <a:extLst xmlns:a="http://schemas.openxmlformats.org/drawingml/2006/main">
              <a:ext uri="{FF2B5EF4-FFF2-40B4-BE49-F238E27FC236}">
                <a16:creationId xmlns:a16="http://schemas.microsoft.com/office/drawing/2014/main" id="{1BAB79FF-75E7-4A45-9A10-F89038A6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477125"/>
            <a:ext cx="43815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87B74"/>
            </a:solidFill>
          </a:ln>
        </p:spPr>
      </p:sp>
      <p:sp>
        <p:nvSpPr>
          <p:cNvPr id="56" name="text-56">
            <a:extLst xmlns:a="http://schemas.openxmlformats.org/drawingml/2006/main">
              <a:ext uri="{FF2B5EF4-FFF2-40B4-BE49-F238E27FC236}">
                <a16:creationId xmlns:a16="http://schemas.microsoft.com/office/drawing/2014/main" id="{F8C8A78C-34D0-4ECD-99CA-58FB170B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7505700"/>
            <a:ext cx="4248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候选一：独立连通分量成对交错执行</a:t>
            </a:r>
          </a:p>
        </p:txBody>
      </p:sp>
      <p:sp>
        <p:nvSpPr>
          <p:cNvPr id="57" name="box-57">
            <a:extLst xmlns:a="http://schemas.openxmlformats.org/drawingml/2006/main">
              <a:ext uri="{FF2B5EF4-FFF2-40B4-BE49-F238E27FC236}">
                <a16:creationId xmlns:a16="http://schemas.microsoft.com/office/drawing/2014/main" id="{6AFDCE41-E075-421A-8641-813A8D56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8239125"/>
            <a:ext cx="4381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287B74"/>
            </a:solidFill>
          </a:ln>
        </p:spPr>
      </p:sp>
      <p:sp>
        <p:nvSpPr>
          <p:cNvPr id="58" name="text-58">
            <a:extLst xmlns:a="http://schemas.openxmlformats.org/drawingml/2006/main">
              <a:ext uri="{FF2B5EF4-FFF2-40B4-BE49-F238E27FC236}">
                <a16:creationId xmlns:a16="http://schemas.microsoft.com/office/drawing/2014/main" id="{9E40A303-DBB8-423B-AFB3-A66F76D9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8267700"/>
            <a:ext cx="42481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候选二：区域／交错／大分量拆分</a:t>
            </a:r>
          </a:p>
          <a:p xmlns:a="http://schemas.openxmlformats.org/drawingml/2006/main">
            <a:pPr algn="ctr">
              <a:defRPr sz="150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通过核内调度与搬运代理代价筛选</a:t>
            </a:r>
          </a:p>
        </p:txBody>
      </p:sp>
      <p:sp>
        <p:nvSpPr>
          <p:cNvPr id="59" name="path-59">
            <a:extLst xmlns:a="http://schemas.openxmlformats.org/drawingml/2006/main">
              <a:ext uri="{FF2B5EF4-FFF2-40B4-BE49-F238E27FC236}">
                <a16:creationId xmlns:a16="http://schemas.microsoft.com/office/drawing/2014/main" id="{E8293403-1110-4B2C-9E85-B62DA634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7753350"/>
            <a:ext cx="238125" cy="790575"/>
          </a:xfrm>
          <a:custGeom xmlns:a="http://schemas.openxmlformats.org/drawingml/2006/main">
            <a:pathLst>
              <a:path w="238125" h="790575">
                <a:moveTo>
                  <a:pt x="0" y="0"/>
                </a:moveTo>
                <a:lnTo>
                  <a:pt x="238125" y="0"/>
                </a:lnTo>
                <a:lnTo>
                  <a:pt x="238125" y="790575"/>
                </a:lnTo>
                <a:lnTo>
                  <a:pt x="0" y="790575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87B74"/>
            </a:solidFill>
          </a:ln>
        </p:spPr>
      </p:sp>
      <p:sp>
        <p:nvSpPr>
          <p:cNvPr id="60" name="path-60">
            <a:extLst xmlns:a="http://schemas.openxmlformats.org/drawingml/2006/main">
              <a:ext uri="{FF2B5EF4-FFF2-40B4-BE49-F238E27FC236}">
                <a16:creationId xmlns:a16="http://schemas.microsoft.com/office/drawing/2014/main" id="{86F2331D-0740-45E1-9359-C058CDF9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162925"/>
            <a:ext cx="276225" cy="9525"/>
          </a:xfrm>
          <a:custGeom xmlns:a="http://schemas.openxmlformats.org/drawingml/2006/main">
            <a:pathLst>
              <a:path w="276225" h="9525">
                <a:moveTo>
                  <a:pt x="0" y="0"/>
                </a:moveTo>
                <a:lnTo>
                  <a:pt x="276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287B74"/>
            </a:solidFill>
          </a:ln>
        </p:spPr>
      </p:sp>
      <p:sp>
        <p:nvSpPr>
          <p:cNvPr id="61" name="path-61">
            <a:extLst xmlns:a="http://schemas.openxmlformats.org/drawingml/2006/main">
              <a:ext uri="{FF2B5EF4-FFF2-40B4-BE49-F238E27FC236}">
                <a16:creationId xmlns:a16="http://schemas.microsoft.com/office/drawing/2014/main" id="{B8B397EC-6E60-4B41-992C-F47B581A0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8124825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287B74"/>
          </a:solidFill>
          <a:ln xmlns:a="http://schemas.openxmlformats.org/drawingml/2006/main" w="0">
            <a:solidFill>
              <a:srgbClr val="287B74"/>
            </a:solidFill>
          </a:ln>
        </p:spPr>
      </p:sp>
      <p:sp>
        <p:nvSpPr>
          <p:cNvPr id="62" name="box-62">
            <a:extLst xmlns:a="http://schemas.openxmlformats.org/drawingml/2006/main">
              <a:ext uri="{FF2B5EF4-FFF2-40B4-BE49-F238E27FC236}">
                <a16:creationId xmlns:a16="http://schemas.microsoft.com/office/drawing/2014/main" id="{CF30C9FC-997D-48BA-926E-69BED0603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7477125"/>
            <a:ext cx="28194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4"/>
          </a:solidFill>
          <a:ln xmlns:a="http://schemas.openxmlformats.org/drawingml/2006/main" w="12383">
            <a:solidFill>
              <a:srgbClr val="287B74"/>
            </a:solidFill>
          </a:ln>
        </p:spPr>
      </p:sp>
      <p:sp>
        <p:nvSpPr>
          <p:cNvPr id="63" name="text-63">
            <a:extLst xmlns:a="http://schemas.openxmlformats.org/drawingml/2006/main">
              <a:ext uri="{FF2B5EF4-FFF2-40B4-BE49-F238E27FC236}">
                <a16:creationId xmlns:a16="http://schemas.microsoft.com/office/drawing/2014/main" id="{37286215-0E3B-40E4-AE9D-CBD163DD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7505700"/>
            <a:ext cx="268605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补齐为目标N核方案</a:t>
            </a:r>
          </a:p>
          <a:p xmlns:a="http://schemas.openxmlformats.org/drawingml/2006/main">
            <a:pPr algn="ctr">
              <a:def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场景B原始评估器</a:t>
            </a:r>
          </a:p>
          <a:p xmlns:a="http://schemas.openxmlformats.org/drawingml/2006/main">
            <a:pPr algn="ctr">
              <a:def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跨核预算与候选择优</a:t>
            </a:r>
          </a:p>
        </p:txBody>
      </p:sp>
      <p:sp>
        <p:nvSpPr>
          <p:cNvPr id="64" name="text-64">
            <a:extLst xmlns:a="http://schemas.openxmlformats.org/drawingml/2006/main">
              <a:ext uri="{FF2B5EF4-FFF2-40B4-BE49-F238E27FC236}">
                <a16:creationId xmlns:a16="http://schemas.microsoft.com/office/drawing/2014/main" id="{4624DC82-748A-4034-A627-70673024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889635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rPr>
              <a:t>最终选择依据为实际N核Makespan，代理代价仅用于候选内部筛选</a:t>
            </a:r>
          </a:p>
        </p:txBody>
      </p:sp>
      <p:sp>
        <p:nvSpPr>
          <p:cNvPr id="65" name="path-65">
            <a:extLst xmlns:a="http://schemas.openxmlformats.org/drawingml/2006/main">
              <a:ext uri="{FF2B5EF4-FFF2-40B4-BE49-F238E27FC236}">
                <a16:creationId xmlns:a16="http://schemas.microsoft.com/office/drawing/2014/main" id="{C10B46A2-DFEE-48AA-B3E5-5A93130D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9220200"/>
            <a:ext cx="9525" cy="495300"/>
          </a:xfrm>
          <a:custGeom xmlns:a="http://schemas.openxmlformats.org/drawingml/2006/main">
            <a:pathLst>
              <a:path w="9525" h="495300">
                <a:moveTo>
                  <a:pt x="0" y="0"/>
                </a:moveTo>
                <a:lnTo>
                  <a:pt x="0" y="49530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287B74"/>
            </a:solidFill>
          </a:ln>
        </p:spPr>
      </p:sp>
      <p:sp>
        <p:nvSpPr>
          <p:cNvPr id="66" name="path-66">
            <a:extLst xmlns:a="http://schemas.openxmlformats.org/drawingml/2006/main">
              <a:ext uri="{FF2B5EF4-FFF2-40B4-BE49-F238E27FC236}">
                <a16:creationId xmlns:a16="http://schemas.microsoft.com/office/drawing/2014/main" id="{0B4D2907-DAFE-4EEC-86F9-382C7D29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9629775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85725"/>
                </a:moveTo>
                <a:lnTo>
                  <a:pt x="76200" y="0"/>
                </a:lnTo>
                <a:lnTo>
                  <a:pt x="0" y="0"/>
                </a:lnTo>
                <a:lnTo>
                  <a:pt x="38100" y="85725"/>
                </a:lnTo>
              </a:path>
            </a:pathLst>
          </a:custGeom>
          <a:solidFill xmlns:a="http://schemas.openxmlformats.org/drawingml/2006/main">
            <a:srgbClr val="287B74"/>
          </a:solidFill>
          <a:ln xmlns:a="http://schemas.openxmlformats.org/drawingml/2006/main" w="0">
            <a:solidFill>
              <a:srgbClr val="287B74"/>
            </a:solidFill>
          </a:ln>
        </p:spPr>
      </p:sp>
      <p:sp>
        <p:nvSpPr>
          <p:cNvPr id="67" name="box-67">
            <a:extLst xmlns:a="http://schemas.openxmlformats.org/drawingml/2006/main">
              <a:ext uri="{FF2B5EF4-FFF2-40B4-BE49-F238E27FC236}">
                <a16:creationId xmlns:a16="http://schemas.microsoft.com/office/drawing/2014/main" id="{8FA50F0F-D94B-427B-B200-5866E292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9324975"/>
            <a:ext cx="39052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8" name="text-68">
            <a:extLst xmlns:a="http://schemas.openxmlformats.org/drawingml/2006/main">
              <a:ext uri="{FF2B5EF4-FFF2-40B4-BE49-F238E27FC236}">
                <a16:creationId xmlns:a16="http://schemas.microsoft.com/office/drawing/2014/main" id="{B9FA0EF5-77D5-4F54-8263-6061C47B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9324975"/>
            <a:ext cx="3905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rPr>
              <a:t>第二问入选方案作为第三问基准</a:t>
            </a:r>
          </a:p>
        </p:txBody>
      </p:sp>
      <p:sp>
        <p:nvSpPr>
          <p:cNvPr id="69" name="box-69">
            <a:extLst xmlns:a="http://schemas.openxmlformats.org/drawingml/2006/main">
              <a:ext uri="{FF2B5EF4-FFF2-40B4-BE49-F238E27FC236}">
                <a16:creationId xmlns:a16="http://schemas.microsoft.com/office/drawing/2014/main" id="{418EE7A8-E858-4F75-B101-7637A95E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0"/>
            <a:ext cx="10477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B06B34"/>
            </a:solidFill>
          </a:ln>
        </p:spPr>
      </p:sp>
      <p:sp>
        <p:nvSpPr>
          <p:cNvPr id="70" name="box-70">
            <a:extLst xmlns:a="http://schemas.openxmlformats.org/drawingml/2006/main">
              <a:ext uri="{FF2B5EF4-FFF2-40B4-BE49-F238E27FC236}">
                <a16:creationId xmlns:a16="http://schemas.microsoft.com/office/drawing/2014/main" id="{AEFDBFCE-831D-4E1C-8DF6-CF26C1623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0"/>
            <a:ext cx="1047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A"/>
          </a:solidFill>
          <a:ln xmlns:a="http://schemas.openxmlformats.org/drawingml/2006/main" w="0">
            <a:noFill/>
          </a:ln>
        </p:spPr>
      </p:sp>
      <p:sp>
        <p:nvSpPr>
          <p:cNvPr id="71" name="box-71">
            <a:extLst xmlns:a="http://schemas.openxmlformats.org/drawingml/2006/main">
              <a:ext uri="{FF2B5EF4-FFF2-40B4-BE49-F238E27FC236}">
                <a16:creationId xmlns:a16="http://schemas.microsoft.com/office/drawing/2014/main" id="{E93DCE06-E0FA-49EC-A384-23B9A6A3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715500"/>
            <a:ext cx="666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6B34"/>
          </a:solidFill>
          <a:ln xmlns:a="http://schemas.openxmlformats.org/drawingml/2006/main" w="0">
            <a:noFill/>
          </a:ln>
        </p:spPr>
      </p:sp>
      <p:sp>
        <p:nvSpPr>
          <p:cNvPr id="72" name="text-72">
            <a:extLst xmlns:a="http://schemas.openxmlformats.org/drawingml/2006/main">
              <a:ext uri="{FF2B5EF4-FFF2-40B4-BE49-F238E27FC236}">
                <a16:creationId xmlns:a16="http://schemas.microsoft.com/office/drawing/2014/main" id="{B43E70C4-250F-45DB-A2BB-DDF06BED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63125"/>
            <a:ext cx="685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B06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B06B3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3" name="text-73">
            <a:extLst xmlns:a="http://schemas.openxmlformats.org/drawingml/2006/main">
              <a:ext uri="{FF2B5EF4-FFF2-40B4-BE49-F238E27FC236}">
                <a16:creationId xmlns:a16="http://schemas.microsoft.com/office/drawing/2014/main" id="{12FE9CEE-9457-4CF3-873F-C97E956A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9763125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06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B06B34"/>
                </a:solidFill>
                <a:latin typeface="Microsoft YaHei"/>
                <a:ea typeface="Microsoft YaHei"/>
                <a:cs typeface="Microsoft YaHei"/>
              </a:rPr>
              <a:t>问题三：共享L2 Cache场景下的候选调度优化</a:t>
            </a:r>
          </a:p>
        </p:txBody>
      </p:sp>
      <p:sp>
        <p:nvSpPr>
          <p:cNvPr id="74" name="text-74">
            <a:extLst xmlns:a="http://schemas.openxmlformats.org/drawingml/2006/main">
              <a:ext uri="{FF2B5EF4-FFF2-40B4-BE49-F238E27FC236}">
                <a16:creationId xmlns:a16="http://schemas.microsoft.com/office/drawing/2014/main" id="{23892F42-758C-4453-9BCD-E3BE47B2C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239375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rPr>
              <a:t>场景B + 共享L2：以原始FIFO Cache评估器计算耗时，保留基准候选</a:t>
            </a:r>
          </a:p>
        </p:txBody>
      </p:sp>
      <p:sp>
        <p:nvSpPr>
          <p:cNvPr id="75" name="box-75">
            <a:extLst xmlns:a="http://schemas.openxmlformats.org/drawingml/2006/main">
              <a:ext uri="{FF2B5EF4-FFF2-40B4-BE49-F238E27FC236}">
                <a16:creationId xmlns:a16="http://schemas.microsoft.com/office/drawing/2014/main" id="{5F50E20D-8B4A-47FA-B77F-80A6E45D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0"/>
            <a:ext cx="223837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A"/>
          </a:solidFill>
          <a:ln xmlns:a="http://schemas.openxmlformats.org/drawingml/2006/main" w="12383">
            <a:solidFill>
              <a:srgbClr val="B06B34"/>
            </a:solidFill>
          </a:ln>
        </p:spPr>
      </p:sp>
      <p:sp>
        <p:nvSpPr>
          <p:cNvPr id="76" name="text-76">
            <a:extLst xmlns:a="http://schemas.openxmlformats.org/drawingml/2006/main">
              <a:ext uri="{FF2B5EF4-FFF2-40B4-BE49-F238E27FC236}">
                <a16:creationId xmlns:a16="http://schemas.microsoft.com/office/drawing/2014/main" id="{F06F0579-1ECF-46BF-BBB2-D98BAD8A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96575"/>
            <a:ext cx="21050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按拓扑深度分窗口</a:t>
            </a:r>
          </a:p>
          <a:p xmlns:a="http://schemas.openxmlformats.org/drawingml/2006/main">
            <a:pPr algn="ctr">
              <a:def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w = 4 / 10 / 16</a:t>
            </a:r>
          </a:p>
        </p:txBody>
      </p:sp>
      <p:sp>
        <p:nvSpPr>
          <p:cNvPr id="77" name="path-77">
            <a:extLst xmlns:a="http://schemas.openxmlformats.org/drawingml/2006/main">
              <a:ext uri="{FF2B5EF4-FFF2-40B4-BE49-F238E27FC236}">
                <a16:creationId xmlns:a16="http://schemas.microsoft.com/office/drawing/2014/main" id="{7B6A9C49-832E-438B-8EFC-63A6F4D5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09662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B06B34"/>
            </a:solidFill>
          </a:ln>
        </p:spPr>
      </p:sp>
      <p:sp>
        <p:nvSpPr>
          <p:cNvPr id="78" name="path-78">
            <a:extLst xmlns:a="http://schemas.openxmlformats.org/drawingml/2006/main">
              <a:ext uri="{FF2B5EF4-FFF2-40B4-BE49-F238E27FC236}">
                <a16:creationId xmlns:a16="http://schemas.microsoft.com/office/drawing/2014/main" id="{3E6C1B21-A308-4C1D-B6B6-87E74541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1058525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B06B34"/>
          </a:solidFill>
          <a:ln xmlns:a="http://schemas.openxmlformats.org/drawingml/2006/main" w="0">
            <a:solidFill>
              <a:srgbClr val="B06B34"/>
            </a:solidFill>
          </a:ln>
        </p:spPr>
      </p:sp>
      <p:sp>
        <p:nvSpPr>
          <p:cNvPr id="79" name="box-79">
            <a:extLst xmlns:a="http://schemas.openxmlformats.org/drawingml/2006/main">
              <a:ext uri="{FF2B5EF4-FFF2-40B4-BE49-F238E27FC236}">
                <a16:creationId xmlns:a16="http://schemas.microsoft.com/office/drawing/2014/main" id="{0DA73857-B0B6-4D11-8A08-B4480188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0668000"/>
            <a:ext cx="2257425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06B34"/>
            </a:solidFill>
          </a:ln>
        </p:spPr>
      </p:sp>
      <p:sp>
        <p:nvSpPr>
          <p:cNvPr id="80" name="text-80">
            <a:extLst xmlns:a="http://schemas.openxmlformats.org/drawingml/2006/main">
              <a:ext uri="{FF2B5EF4-FFF2-40B4-BE49-F238E27FC236}">
                <a16:creationId xmlns:a16="http://schemas.microsoft.com/office/drawing/2014/main" id="{FE0B533F-2261-4E64-82A8-25EA1052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0696575"/>
            <a:ext cx="21240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窗口内连通分量分组</a:t>
            </a:r>
          </a:p>
          <a:p xmlns:a="http://schemas.openxmlformats.org/drawingml/2006/main">
            <a:pPr algn="ctr">
              <a:defRPr sz="165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形成候选子图</a:t>
            </a:r>
          </a:p>
        </p:txBody>
      </p:sp>
      <p:sp>
        <p:nvSpPr>
          <p:cNvPr id="81" name="path-81">
            <a:extLst xmlns:a="http://schemas.openxmlformats.org/drawingml/2006/main">
              <a:ext uri="{FF2B5EF4-FFF2-40B4-BE49-F238E27FC236}">
                <a16:creationId xmlns:a16="http://schemas.microsoft.com/office/drawing/2014/main" id="{90F6013C-B830-480F-8951-DA038965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1109662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B06B34"/>
            </a:solidFill>
          </a:ln>
        </p:spPr>
      </p:sp>
      <p:sp>
        <p:nvSpPr>
          <p:cNvPr id="82" name="path-82">
            <a:extLst xmlns:a="http://schemas.openxmlformats.org/drawingml/2006/main">
              <a:ext uri="{FF2B5EF4-FFF2-40B4-BE49-F238E27FC236}">
                <a16:creationId xmlns:a16="http://schemas.microsoft.com/office/drawing/2014/main" id="{EFB6F761-CA4E-472A-90EF-14CA90C5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1058525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B06B34"/>
          </a:solidFill>
          <a:ln xmlns:a="http://schemas.openxmlformats.org/drawingml/2006/main" w="0">
            <a:solidFill>
              <a:srgbClr val="B06B34"/>
            </a:solidFill>
          </a:ln>
        </p:spPr>
      </p:sp>
      <p:sp>
        <p:nvSpPr>
          <p:cNvPr id="83" name="box-83">
            <a:extLst xmlns:a="http://schemas.openxmlformats.org/drawingml/2006/main">
              <a:ext uri="{FF2B5EF4-FFF2-40B4-BE49-F238E27FC236}">
                <a16:creationId xmlns:a16="http://schemas.microsoft.com/office/drawing/2014/main" id="{7497AEF2-7052-4DA3-B42D-F9ADC929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10668000"/>
            <a:ext cx="24003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06B34"/>
            </a:solidFill>
          </a:ln>
        </p:spPr>
      </p:sp>
      <p:sp>
        <p:nvSpPr>
          <p:cNvPr id="84" name="text-84">
            <a:extLst xmlns:a="http://schemas.openxmlformats.org/drawingml/2006/main">
              <a:ext uri="{FF2B5EF4-FFF2-40B4-BE49-F238E27FC236}">
                <a16:creationId xmlns:a16="http://schemas.microsoft.com/office/drawing/2014/main" id="{B9C564CC-1548-4F23-93F8-62BD80C3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10696575"/>
            <a:ext cx="22669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前驱亲和分核</a:t>
            </a:r>
          </a:p>
          <a:p xmlns:a="http://schemas.openxmlformats.org/drawingml/2006/main">
            <a:pPr algn="ctr">
              <a:defRPr sz="165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兼顾流水线负载</a:t>
            </a:r>
          </a:p>
        </p:txBody>
      </p:sp>
      <p:sp>
        <p:nvSpPr>
          <p:cNvPr id="85" name="path-85">
            <a:extLst xmlns:a="http://schemas.openxmlformats.org/drawingml/2006/main">
              <a:ext uri="{FF2B5EF4-FFF2-40B4-BE49-F238E27FC236}">
                <a16:creationId xmlns:a16="http://schemas.microsoft.com/office/drawing/2014/main" id="{344D15A8-DCFB-48DC-BE03-CEF15B3B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1096625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B06B34"/>
            </a:solidFill>
          </a:ln>
        </p:spPr>
      </p:sp>
      <p:sp>
        <p:nvSpPr>
          <p:cNvPr id="86" name="path-86">
            <a:extLst xmlns:a="http://schemas.openxmlformats.org/drawingml/2006/main">
              <a:ext uri="{FF2B5EF4-FFF2-40B4-BE49-F238E27FC236}">
                <a16:creationId xmlns:a16="http://schemas.microsoft.com/office/drawing/2014/main" id="{D866CC92-053E-49A1-AF1A-4AD8A912F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1058525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B06B34"/>
          </a:solidFill>
          <a:ln xmlns:a="http://schemas.openxmlformats.org/drawingml/2006/main" w="0">
            <a:solidFill>
              <a:srgbClr val="B06B34"/>
            </a:solidFill>
          </a:ln>
        </p:spPr>
      </p:sp>
      <p:sp>
        <p:nvSpPr>
          <p:cNvPr id="87" name="box-87">
            <a:extLst xmlns:a="http://schemas.openxmlformats.org/drawingml/2006/main">
              <a:ext uri="{FF2B5EF4-FFF2-40B4-BE49-F238E27FC236}">
                <a16:creationId xmlns:a16="http://schemas.microsoft.com/office/drawing/2014/main" id="{95996E39-8FA4-46A6-B78F-046F80506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0668000"/>
            <a:ext cx="22479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A"/>
          </a:solidFill>
          <a:ln xmlns:a="http://schemas.openxmlformats.org/drawingml/2006/main" w="12383">
            <a:solidFill>
              <a:srgbClr val="B06B34"/>
            </a:solidFill>
          </a:ln>
        </p:spPr>
      </p:sp>
      <p:sp>
        <p:nvSpPr>
          <p:cNvPr id="88" name="text-88">
            <a:extLst xmlns:a="http://schemas.openxmlformats.org/drawingml/2006/main">
              <a:ext uri="{FF2B5EF4-FFF2-40B4-BE49-F238E27FC236}">
                <a16:creationId xmlns:a16="http://schemas.microsoft.com/office/drawing/2014/main" id="{829C7ED0-22A8-45AE-B221-C3466B79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696575"/>
            <a:ext cx="21145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三个窗口候选</a:t>
            </a:r>
          </a:p>
          <a:p xmlns:a="http://schemas.openxmlformats.org/drawingml/2006/main">
            <a:pPr algn="ctr">
              <a:def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重新划分与分核</a:t>
            </a:r>
          </a:p>
        </p:txBody>
      </p:sp>
      <p:sp>
        <p:nvSpPr>
          <p:cNvPr id="89" name="path-89">
            <a:extLst xmlns:a="http://schemas.openxmlformats.org/drawingml/2006/main">
              <a:ext uri="{FF2B5EF4-FFF2-40B4-BE49-F238E27FC236}">
                <a16:creationId xmlns:a16="http://schemas.microsoft.com/office/drawing/2014/main" id="{87DF3368-BC51-4B0E-B8CC-D1A1E2BD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1534775"/>
            <a:ext cx="7829550" cy="190500"/>
          </a:xfrm>
          <a:custGeom xmlns:a="http://schemas.openxmlformats.org/drawingml/2006/main">
            <a:pathLst>
              <a:path w="7829550" h="190500">
                <a:moveTo>
                  <a:pt x="7829550" y="0"/>
                </a:moveTo>
                <a:lnTo>
                  <a:pt x="7829550" y="95250"/>
                </a:lnTo>
                <a:lnTo>
                  <a:pt x="0" y="95250"/>
                </a:lnTo>
                <a:lnTo>
                  <a:pt x="0" y="190500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B06B34"/>
            </a:solidFill>
          </a:ln>
        </p:spPr>
      </p:sp>
      <p:sp>
        <p:nvSpPr>
          <p:cNvPr id="90" name="path-90">
            <a:extLst xmlns:a="http://schemas.openxmlformats.org/drawingml/2006/main">
              <a:ext uri="{FF2B5EF4-FFF2-40B4-BE49-F238E27FC236}">
                <a16:creationId xmlns:a16="http://schemas.microsoft.com/office/drawing/2014/main" id="{02773EB2-3152-449A-A67F-6277E4F1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11639550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85725"/>
                </a:moveTo>
                <a:lnTo>
                  <a:pt x="76200" y="0"/>
                </a:lnTo>
                <a:lnTo>
                  <a:pt x="0" y="0"/>
                </a:lnTo>
                <a:lnTo>
                  <a:pt x="38100" y="85725"/>
                </a:lnTo>
              </a:path>
            </a:pathLst>
          </a:custGeom>
          <a:solidFill xmlns:a="http://schemas.openxmlformats.org/drawingml/2006/main">
            <a:srgbClr val="B06B34"/>
          </a:solidFill>
          <a:ln xmlns:a="http://schemas.openxmlformats.org/drawingml/2006/main" w="0">
            <a:solidFill>
              <a:srgbClr val="B06B34"/>
            </a:solidFill>
          </a:ln>
        </p:spPr>
      </p:sp>
      <p:sp>
        <p:nvSpPr>
          <p:cNvPr id="91" name="text-91">
            <a:extLst xmlns:a="http://schemas.openxmlformats.org/drawingml/2006/main">
              <a:ext uri="{FF2B5EF4-FFF2-40B4-BE49-F238E27FC236}">
                <a16:creationId xmlns:a16="http://schemas.microsoft.com/office/drawing/2014/main" id="{2DF2A406-F25A-4284-8B47-7B61443F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734800"/>
            <a:ext cx="209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06B3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B06B34"/>
                </a:solidFill>
                <a:latin typeface="Microsoft YaHei"/>
                <a:ea typeface="Microsoft YaHei"/>
                <a:cs typeface="Microsoft YaHei"/>
              </a:rPr>
              <a:t>基准 + 三个窗口候选</a:t>
            </a:r>
          </a:p>
        </p:txBody>
      </p:sp>
      <p:sp>
        <p:nvSpPr>
          <p:cNvPr id="92" name="path-92">
            <a:extLst xmlns:a="http://schemas.openxmlformats.org/drawingml/2006/main">
              <a:ext uri="{FF2B5EF4-FFF2-40B4-BE49-F238E27FC236}">
                <a16:creationId xmlns:a16="http://schemas.microsoft.com/office/drawing/2014/main" id="{C0DAA755-D056-4F72-BB2E-360208E9D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2020550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B06B34"/>
            </a:solidFill>
          </a:ln>
        </p:spPr>
      </p:sp>
      <p:sp>
        <p:nvSpPr>
          <p:cNvPr id="93" name="path-93">
            <a:extLst xmlns:a="http://schemas.openxmlformats.org/drawingml/2006/main">
              <a:ext uri="{FF2B5EF4-FFF2-40B4-BE49-F238E27FC236}">
                <a16:creationId xmlns:a16="http://schemas.microsoft.com/office/drawing/2014/main" id="{854C73F5-3AE9-4D3F-A619-63464A3E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1982450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B06B34"/>
          </a:solidFill>
          <a:ln xmlns:a="http://schemas.openxmlformats.org/drawingml/2006/main" w="0">
            <a:solidFill>
              <a:srgbClr val="B06B34"/>
            </a:solidFill>
          </a:ln>
        </p:spPr>
      </p:sp>
      <p:sp>
        <p:nvSpPr>
          <p:cNvPr id="94" name="box-94">
            <a:extLst xmlns:a="http://schemas.openxmlformats.org/drawingml/2006/main">
              <a:ext uri="{FF2B5EF4-FFF2-40B4-BE49-F238E27FC236}">
                <a16:creationId xmlns:a16="http://schemas.microsoft.com/office/drawing/2014/main" id="{88BF6FB6-C7CA-4C6D-9B81-C82BA3943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1725275"/>
            <a:ext cx="3714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4EA"/>
          </a:solidFill>
          <a:ln xmlns:a="http://schemas.openxmlformats.org/drawingml/2006/main" w="12383">
            <a:solidFill>
              <a:srgbClr val="B06B34"/>
            </a:solidFill>
          </a:ln>
        </p:spPr>
      </p:sp>
      <p:sp>
        <p:nvSpPr>
          <p:cNvPr id="95" name="text-95">
            <a:extLst xmlns:a="http://schemas.openxmlformats.org/drawingml/2006/main">
              <a:ext uri="{FF2B5EF4-FFF2-40B4-BE49-F238E27FC236}">
                <a16:creationId xmlns:a16="http://schemas.microsoft.com/office/drawing/2014/main" id="{40A91167-89A9-4141-AF67-CA07284A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1753850"/>
            <a:ext cx="3581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按Cache Makespan择优</a:t>
            </a:r>
          </a:p>
          <a:p xmlns:a="http://schemas.openxmlformats.org/drawingml/2006/main">
            <a:pPr algn="ctr">
              <a:def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平局保留基准方案</a:t>
            </a:r>
          </a:p>
        </p:txBody>
      </p:sp>
      <p:sp>
        <p:nvSpPr>
          <p:cNvPr id="96" name="path-96">
            <a:extLst xmlns:a="http://schemas.openxmlformats.org/drawingml/2006/main">
              <a:ext uri="{FF2B5EF4-FFF2-40B4-BE49-F238E27FC236}">
                <a16:creationId xmlns:a16="http://schemas.microsoft.com/office/drawing/2014/main" id="{A901D37B-985E-4F93-BEE6-AAE51E18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2020550"/>
            <a:ext cx="285750" cy="9525"/>
          </a:xfrm>
          <a:custGeom xmlns:a="http://schemas.openxmlformats.org/drawingml/2006/main"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B06B34"/>
            </a:solidFill>
          </a:ln>
        </p:spPr>
      </p:sp>
      <p:sp>
        <p:nvSpPr>
          <p:cNvPr id="97" name="path-97">
            <a:extLst xmlns:a="http://schemas.openxmlformats.org/drawingml/2006/main">
              <a:ext uri="{FF2B5EF4-FFF2-40B4-BE49-F238E27FC236}">
                <a16:creationId xmlns:a16="http://schemas.microsoft.com/office/drawing/2014/main" id="{02299F0C-073A-4A1F-8680-7BD28478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1982450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B06B34"/>
          </a:solidFill>
          <a:ln xmlns:a="http://schemas.openxmlformats.org/drawingml/2006/main" w="0">
            <a:solidFill>
              <a:srgbClr val="B06B34"/>
            </a:solidFill>
          </a:ln>
        </p:spPr>
      </p:sp>
      <p:sp>
        <p:nvSpPr>
          <p:cNvPr id="98" name="box-98">
            <a:extLst xmlns:a="http://schemas.openxmlformats.org/drawingml/2006/main">
              <a:ext uri="{FF2B5EF4-FFF2-40B4-BE49-F238E27FC236}">
                <a16:creationId xmlns:a16="http://schemas.microsoft.com/office/drawing/2014/main" id="{6FE55154-0934-4751-8105-F29D0B00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11725275"/>
            <a:ext cx="361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06B34"/>
            </a:solidFill>
          </a:ln>
        </p:spPr>
      </p:sp>
      <p:sp>
        <p:nvSpPr>
          <p:cNvPr id="99" name="text-99">
            <a:extLst xmlns:a="http://schemas.openxmlformats.org/drawingml/2006/main">
              <a:ext uri="{FF2B5EF4-FFF2-40B4-BE49-F238E27FC236}">
                <a16:creationId xmlns:a16="http://schemas.microsoft.com/office/drawing/2014/main" id="{3584FF0F-4579-42D0-96F0-A88BC7F6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1753850"/>
            <a:ext cx="3486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同方案无L2／有L2配对评估</a:t>
            </a:r>
          </a:p>
          <a:p xmlns:a="http://schemas.openxmlformats.org/drawingml/2006/main">
            <a:pPr algn="ctr">
              <a:defRPr sz="15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区分调度收益与Cache收益</a:t>
            </a:r>
          </a:p>
        </p:txBody>
      </p:sp>
      <p:sp>
        <p:nvSpPr>
          <p:cNvPr id="100" name="text-100">
            <a:extLst xmlns:a="http://schemas.openxmlformats.org/drawingml/2006/main">
              <a:ext uri="{FF2B5EF4-FFF2-40B4-BE49-F238E27FC236}">
                <a16:creationId xmlns:a16="http://schemas.microsoft.com/office/drawing/2014/main" id="{E5F9C0EA-09E4-4D5E-83A1-07642F7B0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430125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rPr>
              <a:t>窗口法包含子图划分与核分配变化；比较基准与新方案时，保持图、核数和配置一致</a:t>
            </a:r>
          </a:p>
        </p:txBody>
      </p:sp>
      <p:sp>
        <p:nvSpPr>
          <p:cNvPr id="101" name="path-101">
            <a:extLst xmlns:a="http://schemas.openxmlformats.org/drawingml/2006/main">
              <a:ext uri="{FF2B5EF4-FFF2-40B4-BE49-F238E27FC236}">
                <a16:creationId xmlns:a16="http://schemas.microsoft.com/office/drawing/2014/main" id="{462B569C-7209-4B6F-9CCF-9EEEC44F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2763500"/>
            <a:ext cx="9525" cy="333375"/>
          </a:xfrm>
          <a:custGeom xmlns:a="http://schemas.openxmlformats.org/drawingml/2006/main"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596779"/>
            </a:solidFill>
          </a:ln>
        </p:spPr>
      </p:sp>
      <p:sp>
        <p:nvSpPr>
          <p:cNvPr id="102" name="path-102">
            <a:extLst xmlns:a="http://schemas.openxmlformats.org/drawingml/2006/main">
              <a:ext uri="{FF2B5EF4-FFF2-40B4-BE49-F238E27FC236}">
                <a16:creationId xmlns:a16="http://schemas.microsoft.com/office/drawing/2014/main" id="{C824AADA-D574-4800-A4C0-6899E070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3011150"/>
            <a:ext cx="76200" cy="85725"/>
          </a:xfrm>
          <a:custGeom xmlns:a="http://schemas.openxmlformats.org/drawingml/2006/main">
            <a:pathLst>
              <a:path w="76200" h="85725">
                <a:moveTo>
                  <a:pt x="38100" y="85725"/>
                </a:moveTo>
                <a:lnTo>
                  <a:pt x="76200" y="0"/>
                </a:lnTo>
                <a:lnTo>
                  <a:pt x="0" y="0"/>
                </a:lnTo>
                <a:lnTo>
                  <a:pt x="38100" y="85725"/>
                </a:lnTo>
              </a:path>
            </a:pathLst>
          </a:custGeom>
          <a:solidFill xmlns:a="http://schemas.openxmlformats.org/drawingml/2006/main">
            <a:srgbClr val="596779"/>
          </a:solidFill>
          <a:ln xmlns:a="http://schemas.openxmlformats.org/drawingml/2006/main" w="0">
            <a:solidFill>
              <a:srgbClr val="596779"/>
            </a:solidFill>
          </a:ln>
        </p:spPr>
      </p:sp>
      <p:sp>
        <p:nvSpPr>
          <p:cNvPr id="103" name="box-103">
            <a:extLst xmlns:a="http://schemas.openxmlformats.org/drawingml/2006/main">
              <a:ext uri="{FF2B5EF4-FFF2-40B4-BE49-F238E27FC236}">
                <a16:creationId xmlns:a16="http://schemas.microsoft.com/office/drawing/2014/main" id="{AE8020BF-89FF-424F-932C-A380D3AF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096875"/>
            <a:ext cx="10477500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12383">
            <a:solidFill>
              <a:srgbClr val="B9C5D0"/>
            </a:solidFill>
          </a:ln>
        </p:spPr>
      </p:sp>
      <p:sp>
        <p:nvSpPr>
          <p:cNvPr id="104" name="text-104">
            <a:extLst xmlns:a="http://schemas.openxmlformats.org/drawingml/2006/main">
              <a:ext uri="{FF2B5EF4-FFF2-40B4-BE49-F238E27FC236}">
                <a16:creationId xmlns:a16="http://schemas.microsoft.com/office/drawing/2014/main" id="{5B1B1440-6D3C-4B87-BD67-D130C710D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192125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统一验证与结果分析</a:t>
            </a:r>
          </a:p>
        </p:txBody>
      </p:sp>
      <p:sp>
        <p:nvSpPr>
          <p:cNvPr id="105" name="box-105">
            <a:extLst xmlns:a="http://schemas.openxmlformats.org/drawingml/2006/main">
              <a:ext uri="{FF2B5EF4-FFF2-40B4-BE49-F238E27FC236}">
                <a16:creationId xmlns:a16="http://schemas.microsoft.com/office/drawing/2014/main" id="{4AA5EEB6-56EB-4A81-AC26-BAEC676AB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658850"/>
            <a:ext cx="22288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5D0"/>
            </a:solidFill>
          </a:ln>
        </p:spPr>
      </p:sp>
      <p:sp>
        <p:nvSpPr>
          <p:cNvPr id="106" name="text-106">
            <a:extLst xmlns:a="http://schemas.openxmlformats.org/drawingml/2006/main">
              <a:ext uri="{FF2B5EF4-FFF2-40B4-BE49-F238E27FC236}">
                <a16:creationId xmlns:a16="http://schemas.microsoft.com/office/drawing/2014/main" id="{FA5CF543-BB48-4A83-864C-981ADD63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687425"/>
            <a:ext cx="2095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方案合法性</a:t>
            </a:r>
          </a:p>
          <a:p xmlns:a="http://schemas.openxmlformats.org/drawingml/2006/main">
            <a:pPr algn="ctr">
              <a:defRPr sz="157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依赖顺序与容量约束</a:t>
            </a:r>
          </a:p>
        </p:txBody>
      </p:sp>
      <p:sp>
        <p:nvSpPr>
          <p:cNvPr id="107" name="path-107">
            <a:extLst xmlns:a="http://schemas.openxmlformats.org/drawingml/2006/main">
              <a:ext uri="{FF2B5EF4-FFF2-40B4-BE49-F238E27FC236}">
                <a16:creationId xmlns:a16="http://schemas.microsoft.com/office/drawing/2014/main" id="{E1B34633-4880-4424-9DED-BA9FF6D3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402080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596779"/>
            </a:solidFill>
          </a:ln>
        </p:spPr>
      </p:sp>
      <p:sp>
        <p:nvSpPr>
          <p:cNvPr id="108" name="path-108">
            <a:extLst xmlns:a="http://schemas.openxmlformats.org/drawingml/2006/main">
              <a:ext uri="{FF2B5EF4-FFF2-40B4-BE49-F238E27FC236}">
                <a16:creationId xmlns:a16="http://schemas.microsoft.com/office/drawing/2014/main" id="{68A7C0E4-0139-4B84-8CCE-E0773F24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3982700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596779"/>
          </a:solidFill>
          <a:ln xmlns:a="http://schemas.openxmlformats.org/drawingml/2006/main" w="0">
            <a:solidFill>
              <a:srgbClr val="596779"/>
            </a:solidFill>
          </a:ln>
        </p:spPr>
      </p:sp>
      <p:sp>
        <p:nvSpPr>
          <p:cNvPr id="109" name="box-109">
            <a:extLst xmlns:a="http://schemas.openxmlformats.org/drawingml/2006/main">
              <a:ext uri="{FF2B5EF4-FFF2-40B4-BE49-F238E27FC236}">
                <a16:creationId xmlns:a16="http://schemas.microsoft.com/office/drawing/2014/main" id="{BFE8C5D4-1921-4750-BC7D-77003079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3658850"/>
            <a:ext cx="22288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5D0"/>
            </a:solidFill>
          </a:ln>
        </p:spPr>
      </p:sp>
      <p:sp>
        <p:nvSpPr>
          <p:cNvPr id="110" name="text-110">
            <a:extLst xmlns:a="http://schemas.openxmlformats.org/drawingml/2006/main">
              <a:ext uri="{FF2B5EF4-FFF2-40B4-BE49-F238E27FC236}">
                <a16:creationId xmlns:a16="http://schemas.microsoft.com/office/drawing/2014/main" id="{EC317B69-7D26-44E1-8AA4-9E82F3E1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3687425"/>
            <a:ext cx="2095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全量同口径对照</a:t>
            </a:r>
          </a:p>
          <a:p xmlns:a="http://schemas.openxmlformats.org/drawingml/2006/main">
            <a:pPr algn="ctr">
              <a:defRPr sz="15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100图及题目要求核数</a:t>
            </a:r>
          </a:p>
        </p:txBody>
      </p:sp>
      <p:sp>
        <p:nvSpPr>
          <p:cNvPr id="111" name="path-111">
            <a:extLst xmlns:a="http://schemas.openxmlformats.org/drawingml/2006/main">
              <a:ext uri="{FF2B5EF4-FFF2-40B4-BE49-F238E27FC236}">
                <a16:creationId xmlns:a16="http://schemas.microsoft.com/office/drawing/2014/main" id="{20097671-3940-46A4-8468-FDEF504B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402080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596779"/>
            </a:solidFill>
          </a:ln>
        </p:spPr>
      </p:sp>
      <p:sp>
        <p:nvSpPr>
          <p:cNvPr id="112" name="path-112">
            <a:extLst xmlns:a="http://schemas.openxmlformats.org/drawingml/2006/main">
              <a:ext uri="{FF2B5EF4-FFF2-40B4-BE49-F238E27FC236}">
                <a16:creationId xmlns:a16="http://schemas.microsoft.com/office/drawing/2014/main" id="{CD827BEF-5B08-4208-B66E-AD5F55573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982700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596779"/>
          </a:solidFill>
          <a:ln xmlns:a="http://schemas.openxmlformats.org/drawingml/2006/main" w="0">
            <a:solidFill>
              <a:srgbClr val="596779"/>
            </a:solidFill>
          </a:ln>
        </p:spPr>
      </p:sp>
      <p:sp>
        <p:nvSpPr>
          <p:cNvPr id="113" name="box-113">
            <a:extLst xmlns:a="http://schemas.openxmlformats.org/drawingml/2006/main">
              <a:ext uri="{FF2B5EF4-FFF2-40B4-BE49-F238E27FC236}">
                <a16:creationId xmlns:a16="http://schemas.microsoft.com/office/drawing/2014/main" id="{8D0D9B0A-3681-4F37-AD94-2F82DE38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3658850"/>
            <a:ext cx="22288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5D0"/>
            </a:solidFill>
          </a:ln>
        </p:spPr>
      </p:sp>
      <p:sp>
        <p:nvSpPr>
          <p:cNvPr id="114" name="text-114">
            <a:extLst xmlns:a="http://schemas.openxmlformats.org/drawingml/2006/main">
              <a:ext uri="{FF2B5EF4-FFF2-40B4-BE49-F238E27FC236}">
                <a16:creationId xmlns:a16="http://schemas.microsoft.com/office/drawing/2014/main" id="{C373806F-C422-4817-B582-C6866B4F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3687425"/>
            <a:ext cx="2095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性能与成本</a:t>
            </a:r>
          </a:p>
          <a:p xmlns:a="http://schemas.openxmlformats.org/drawingml/2006/main">
            <a:pPr algn="ctr">
              <a:defRPr sz="15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耗时、搬运、命中率</a:t>
            </a:r>
          </a:p>
        </p:txBody>
      </p:sp>
      <p:sp>
        <p:nvSpPr>
          <p:cNvPr id="115" name="path-115">
            <a:extLst xmlns:a="http://schemas.openxmlformats.org/drawingml/2006/main">
              <a:ext uri="{FF2B5EF4-FFF2-40B4-BE49-F238E27FC236}">
                <a16:creationId xmlns:a16="http://schemas.microsoft.com/office/drawing/2014/main" id="{FF74E905-77DB-4B0F-BAA7-84D80B61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4020800"/>
            <a:ext cx="361950" cy="9525"/>
          </a:xfrm>
          <a:custGeom xmlns:a="http://schemas.openxmlformats.org/drawingml/2006/main"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8098">
            <a:solidFill>
              <a:srgbClr val="596779"/>
            </a:solidFill>
          </a:ln>
        </p:spPr>
      </p:sp>
      <p:sp>
        <p:nvSpPr>
          <p:cNvPr id="116" name="path-116">
            <a:extLst xmlns:a="http://schemas.openxmlformats.org/drawingml/2006/main">
              <a:ext uri="{FF2B5EF4-FFF2-40B4-BE49-F238E27FC236}">
                <a16:creationId xmlns:a16="http://schemas.microsoft.com/office/drawing/2014/main" id="{27850EE5-6F89-49C4-9F04-302EC488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3982700"/>
            <a:ext cx="85725" cy="76200"/>
          </a:xfrm>
          <a:custGeom xmlns:a="http://schemas.openxmlformats.org/drawingml/2006/main">
            <a:pathLst>
              <a:path w="85725" h="76200">
                <a:moveTo>
                  <a:pt x="85725" y="38100"/>
                </a:moveTo>
                <a:lnTo>
                  <a:pt x="0" y="0"/>
                </a:lnTo>
                <a:lnTo>
                  <a:pt x="0" y="76200"/>
                </a:lnTo>
                <a:lnTo>
                  <a:pt x="85725" y="38100"/>
                </a:lnTo>
              </a:path>
            </a:pathLst>
          </a:custGeom>
          <a:solidFill xmlns:a="http://schemas.openxmlformats.org/drawingml/2006/main">
            <a:srgbClr val="596779"/>
          </a:solidFill>
          <a:ln xmlns:a="http://schemas.openxmlformats.org/drawingml/2006/main" w="0">
            <a:solidFill>
              <a:srgbClr val="596779"/>
            </a:solidFill>
          </a:ln>
        </p:spPr>
      </p:sp>
      <p:sp>
        <p:nvSpPr>
          <p:cNvPr id="117" name="box-117">
            <a:extLst xmlns:a="http://schemas.openxmlformats.org/drawingml/2006/main">
              <a:ext uri="{FF2B5EF4-FFF2-40B4-BE49-F238E27FC236}">
                <a16:creationId xmlns:a16="http://schemas.microsoft.com/office/drawing/2014/main" id="{A8659A47-9C54-43E4-81D0-C27A3F30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3658850"/>
            <a:ext cx="22288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9C5D0"/>
            </a:solidFill>
          </a:ln>
        </p:spPr>
      </p:sp>
      <p:sp>
        <p:nvSpPr>
          <p:cNvPr id="118" name="text-118">
            <a:extLst xmlns:a="http://schemas.openxmlformats.org/drawingml/2006/main">
              <a:ext uri="{FF2B5EF4-FFF2-40B4-BE49-F238E27FC236}">
                <a16:creationId xmlns:a16="http://schemas.microsoft.com/office/drawing/2014/main" id="{8DE85399-35A9-4012-ADFB-792D55FC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687425"/>
            <a:ext cx="2095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可追溯结果</a:t>
            </a:r>
          </a:p>
          <a:p xmlns:a="http://schemas.openxmlformats.org/drawingml/2006/main">
            <a:pPr algn="ctr">
              <a:defRPr sz="15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方案、逐图指标与日志</a:t>
            </a:r>
          </a:p>
        </p:txBody>
      </p:sp>
      <p:sp>
        <p:nvSpPr>
          <p:cNvPr id="119" name="text-119">
            <a:extLst xmlns:a="http://schemas.openxmlformats.org/drawingml/2006/main">
              <a:ext uri="{FF2B5EF4-FFF2-40B4-BE49-F238E27FC236}">
                <a16:creationId xmlns:a16="http://schemas.microsoft.com/office/drawing/2014/main" id="{BB2EB19F-F2B4-47D1-849A-CE25C2AA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506575"/>
            <a:ext cx="1000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rPr>
              <a:t>问题一、二：单核参考与2～5核对照     问题三：1～5核无L2／Cache配对</a:t>
            </a:r>
          </a:p>
        </p:txBody>
      </p:sp>
      <p:sp>
        <p:nvSpPr>
          <p:cNvPr id="120" name="text-120">
            <a:extLst xmlns:a="http://schemas.openxmlformats.org/drawingml/2006/main">
              <a:ext uri="{FF2B5EF4-FFF2-40B4-BE49-F238E27FC236}">
                <a16:creationId xmlns:a16="http://schemas.microsoft.com/office/drawing/2014/main" id="{AEB2B465-2EA7-420A-A9DC-09504CC6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801850"/>
            <a:ext cx="1000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96779"/>
                </a:solidFill>
                <a:latin typeface="Microsoft YaHei"/>
                <a:ea typeface="Microsoft YaHei"/>
                <a:cs typeface="Microsoft YaHei"/>
              </a:rPr>
              <a:t>同时记录候选数量与求解时间，依据原始评估器口径解释额外搬运量</a:t>
            </a:r>
          </a:p>
        </p:txBody>
      </p:sp>
      <p:sp>
        <p:nvSpPr>
          <p:cNvPr id="121" name="text-121">
            <a:extLst xmlns:a="http://schemas.openxmlformats.org/drawingml/2006/main">
              <a:ext uri="{FF2B5EF4-FFF2-40B4-BE49-F238E27FC236}">
                <a16:creationId xmlns:a16="http://schemas.microsoft.com/office/drawing/2014/main" id="{A46052EB-AB84-4BDD-95CA-E543D560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316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146"/>
                </a:solidFill>
                <a:latin typeface="Microsoft YaHei"/>
                <a:ea typeface="Microsoft YaHei"/>
                <a:cs typeface="Microsoft YaHei"/>
              </a:rPr>
              <a:t>图 1  NPU计算图划分与多核调度优化总体技术路线</a:t>
            </a:r>
          </a:p>
        </p:txBody>
      </p:sp>
    </p:spTree>
    <p:extLst>
      <p:ext uri="{BB962C8B-B14F-4D97-AF65-F5344CB8AC3E}">
        <p14:creationId xmlns:p14="http://schemas.microsoft.com/office/powerpoint/2010/main" val="1319439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2026-09-26T09:38:19.8110000Z</dcterms:created>
  <dcterms:modified xsi:type="dcterms:W3CDTF">2026-09-26T09:38:19.8110000Z</dcterms:modified>
</coreProperties>
</file>